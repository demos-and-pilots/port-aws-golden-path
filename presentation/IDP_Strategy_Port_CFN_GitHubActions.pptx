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7" r:id="rId9"/>
    <p:sldId id="268" r:id="rId10"/>
    <p:sldId id="265" r:id="rId11"/>
    <p:sldId id="263" r:id="rId12"/>
    <p:sldId id="266" r:id="rId13"/>
    <p:sldId id="264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F50"/>
    <a:srgbClr val="1A395C"/>
    <a:srgbClr val="1D5E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4610"/>
  </p:normalViewPr>
  <p:slideViewPr>
    <p:cSldViewPr snapToGrid="0" snapToObjects="1">
      <p:cViewPr varScale="1">
        <p:scale>
          <a:sx n="188" d="100"/>
          <a:sy n="188" d="100"/>
        </p:scale>
        <p:origin x="8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7191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4ED36-B930-9E39-27A3-BC339EB79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96980-BE4D-4C66-094F-FE33BC68C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4042A2-D902-7A9F-27BE-137125740E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72CD4-00B9-9F50-81AE-F6417F00C0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7019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C158-C4CA-3154-F85D-B87580840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971F7-0307-0487-96CB-A48F97ACC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087736-4A5E-CEE7-1A9B-0234577AA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B1B11-DF21-005D-4A73-A908CFEC7C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5092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42BC8-120A-324E-4DF6-4B10F7DBB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56CD40-36DE-A460-6675-5C5B977334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43570-B16A-D81D-FBA5-2CEA8838C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86627-89CA-454E-E28D-F41FCC2768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582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0C0B7-2A06-4CDD-4F20-12C533EF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984E6-405B-6A5A-1FFF-84B047681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935D1C-9680-6212-FB59-8907CF845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4BBBD0-B5CF-0203-F50A-EDCA3D4057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263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69B32-C67C-F61D-504E-804EE8247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D4DFA6-2E46-452C-CFBE-32C097E14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D6D491-A9F6-AFC5-AAFA-D3E7846CB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EDFE4-4D73-20DC-5A5B-421838377A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6218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0.svg"/><Relationship Id="rId5" Type="http://schemas.openxmlformats.org/officeDocument/2006/relationships/image" Target="../media/image16.png"/><Relationship Id="rId10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3B0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provisioning resources with Self Service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6517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· CloudFormation · GitHub Actions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3749040"/>
            <a:ext cx="32004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/>
          <p:cNvSpPr/>
          <p:nvPr/>
        </p:nvSpPr>
        <p:spPr>
          <a:xfrm>
            <a:off x="365760" y="38587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Itaú + Kyndryl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Abril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0" y="548640"/>
            <a:ext cx="1463040" cy="1463040"/>
          </a:xfrm>
          <a:prstGeom prst="rect">
            <a:avLst/>
          </a:prstGeom>
          <a:solidFill>
            <a:srgbClr val="1E5FA8">
              <a:alpha val="30000"/>
            </a:srgbClr>
          </a:solidFill>
          <a:ln w="12700">
            <a:solidFill>
              <a:srgbClr val="1E5FA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Shape 7"/>
          <p:cNvSpPr/>
          <p:nvPr/>
        </p:nvSpPr>
        <p:spPr>
          <a:xfrm>
            <a:off x="7863840" y="1280160"/>
            <a:ext cx="1280160" cy="2926080"/>
          </a:xfrm>
          <a:prstGeom prst="rect">
            <a:avLst/>
          </a:prstGeom>
          <a:solidFill>
            <a:srgbClr val="0B8A6E">
              <a:alpha val="25000"/>
            </a:srgbClr>
          </a:solidFill>
          <a:ln w="12700">
            <a:solidFill>
              <a:srgbClr val="0B8A6E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5" name="Text 3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" name="Text 6"/>
          <p:cNvSpPr/>
          <p:nvPr/>
        </p:nvSpPr>
        <p:spPr>
          <a:xfrm>
            <a:off x="438912" y="118872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8912" y="1499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" y="17373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brecha entre developers e infraestructura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2" name="Shape 10"/>
          <p:cNvSpPr/>
          <p:nvPr/>
        </p:nvSpPr>
        <p:spPr>
          <a:xfrm>
            <a:off x="4754880" y="1078992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3" name="Text 11"/>
          <p:cNvSpPr/>
          <p:nvPr/>
        </p:nvSpPr>
        <p:spPr>
          <a:xfrm>
            <a:off x="4919472" y="118872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919472" y="1499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propuesto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19472" y="17373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base en AWS con privacidad total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249424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7" name="Shape 15"/>
          <p:cNvSpPr/>
          <p:nvPr/>
        </p:nvSpPr>
        <p:spPr>
          <a:xfrm>
            <a:off x="274320" y="2249424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Text 16"/>
          <p:cNvSpPr/>
          <p:nvPr/>
        </p:nvSpPr>
        <p:spPr>
          <a:xfrm>
            <a:off x="438912" y="235915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38912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IDP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8912" y="29077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como portal de autoservicio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249424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2" name="Shape 20"/>
          <p:cNvSpPr/>
          <p:nvPr/>
        </p:nvSpPr>
        <p:spPr>
          <a:xfrm>
            <a:off x="4754880" y="2249424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3" name="Text 21"/>
          <p:cNvSpPr/>
          <p:nvPr/>
        </p:nvSpPr>
        <p:spPr>
          <a:xfrm>
            <a:off x="4919472" y="235915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919472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entrega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19472" y="29077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419856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7" name="Shape 25"/>
          <p:cNvSpPr/>
          <p:nvPr/>
        </p:nvSpPr>
        <p:spPr>
          <a:xfrm>
            <a:off x="274320" y="3419856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Text 26"/>
          <p:cNvSpPr/>
          <p:nvPr/>
        </p:nvSpPr>
        <p:spPr>
          <a:xfrm>
            <a:off x="438912" y="352958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38912" y="38404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8912" y="40782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formulario al stack aprovisionado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419856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2" name="Shape 30"/>
          <p:cNvSpPr/>
          <p:nvPr/>
        </p:nvSpPr>
        <p:spPr>
          <a:xfrm>
            <a:off x="4754880" y="3419856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Text 31"/>
          <p:cNvSpPr/>
          <p:nvPr/>
        </p:nvSpPr>
        <p:spPr>
          <a:xfrm>
            <a:off x="4919472" y="352958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919472" y="38404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clave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19472" y="40782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en velocidad, seguridad y escala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brecha entre developers e infraestructura en AWS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8595360" cy="713232"/>
          </a:xfrm>
          <a:prstGeom prst="rect">
            <a:avLst/>
          </a:prstGeom>
          <a:solidFill>
            <a:srgbClr val="FDECEA"/>
          </a:solidFill>
          <a:ln w="12700">
            <a:solidFill>
              <a:srgbClr val="E57373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078992"/>
            <a:ext cx="7680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Itaú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madurez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técnica en AWS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democratizar esa infraestructura.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alguno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semi-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ocasiones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artesanal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lento (+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ticketOps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depender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2–3 expertos.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4320" y="193852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1" name="Shape 8"/>
          <p:cNvSpPr/>
          <p:nvPr/>
        </p:nvSpPr>
        <p:spPr>
          <a:xfrm>
            <a:off x="274320" y="1938528"/>
            <a:ext cx="27432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121408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1248" y="21214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lentos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11480" y="25054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solo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puede crear el equipo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plataforma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3172968" y="1947333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1" name="Shape 16"/>
          <p:cNvSpPr/>
          <p:nvPr/>
        </p:nvSpPr>
        <p:spPr>
          <a:xfrm>
            <a:off x="3172968" y="1947333"/>
            <a:ext cx="2743200" cy="6400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0128" y="2130213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739896" y="2130213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silo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3310128" y="2514261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'cómo' vive en la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cabeza de pocos ingenieros,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golden path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274320" y="326440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6" name="Shape 20"/>
          <p:cNvSpPr/>
          <p:nvPr/>
        </p:nvSpPr>
        <p:spPr>
          <a:xfrm>
            <a:off x="274320" y="3264408"/>
            <a:ext cx="2743200" cy="6400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44728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41248" y="34472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VPCs manuales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11480" y="38313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ocasiones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Security groups y endpoints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configurados a mano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3172968" y="326440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1" name="Shape 24"/>
          <p:cNvSpPr/>
          <p:nvPr/>
        </p:nvSpPr>
        <p:spPr>
          <a:xfrm>
            <a:off x="3172968" y="3264408"/>
            <a:ext cx="2743200" cy="6400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0128" y="3447288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739896" y="34472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visibilidad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3310128" y="38313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catálogo de qué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existe, quién lo posee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qué cuesta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5989320" y="193852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6" name="Shape 28"/>
          <p:cNvSpPr/>
          <p:nvPr/>
        </p:nvSpPr>
        <p:spPr>
          <a:xfrm>
            <a:off x="5989320" y="1938528"/>
            <a:ext cx="27432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2121408"/>
            <a:ext cx="347472" cy="34747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556248" y="21214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Time-to-market alto</a:t>
            </a:r>
            <a:endParaRPr lang="en-US" sz="1200" dirty="0"/>
          </a:p>
        </p:txBody>
      </p:sp>
      <p:sp>
        <p:nvSpPr>
          <p:cNvPr id="39" name="Text 30"/>
          <p:cNvSpPr/>
          <p:nvPr/>
        </p:nvSpPr>
        <p:spPr>
          <a:xfrm>
            <a:off x="6126480" y="25054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para desplegar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arquitectura que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debería tardar horas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propuesto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base que debe poder aprovisionarse en autoservicio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0585" y="9900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la arquitectura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89888"/>
            <a:ext cx="41148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9" name="Shape 7"/>
          <p:cNvSpPr/>
          <p:nvPr/>
        </p:nvSpPr>
        <p:spPr>
          <a:xfrm>
            <a:off x="274320" y="1389888"/>
            <a:ext cx="64008" cy="5120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Text 8"/>
          <p:cNvSpPr/>
          <p:nvPr/>
        </p:nvSpPr>
        <p:spPr>
          <a:xfrm>
            <a:off x="896112" y="1453896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166420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 serverless en VPC privada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965960"/>
            <a:ext cx="41148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3" name="Shape 11"/>
          <p:cNvSpPr/>
          <p:nvPr/>
        </p:nvSpPr>
        <p:spPr>
          <a:xfrm>
            <a:off x="274320" y="1965960"/>
            <a:ext cx="64008" cy="5120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Text 12"/>
          <p:cNvSpPr/>
          <p:nvPr/>
        </p:nvSpPr>
        <p:spPr>
          <a:xfrm>
            <a:off x="896112" y="2029968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DynamoDB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6112" y="2240280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NoSQL con endpoint privado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542032"/>
            <a:ext cx="41148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7" name="Shape 15"/>
          <p:cNvSpPr/>
          <p:nvPr/>
        </p:nvSpPr>
        <p:spPr>
          <a:xfrm>
            <a:off x="274320" y="2542032"/>
            <a:ext cx="64008" cy="5120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Text 16"/>
          <p:cNvSpPr/>
          <p:nvPr/>
        </p:nvSpPr>
        <p:spPr>
          <a:xfrm>
            <a:off x="896112" y="260604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Endpoints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96112" y="2816352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· 100% privado · sin internet directo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118104"/>
            <a:ext cx="4114800" cy="51206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274320" y="3118104"/>
            <a:ext cx="64008" cy="5120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896112" y="3182112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completo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96112" y="3392424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perfiles · políticas least privilege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694176"/>
            <a:ext cx="4114800" cy="51206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5" name="Shape 23"/>
          <p:cNvSpPr/>
          <p:nvPr/>
        </p:nvSpPr>
        <p:spPr>
          <a:xfrm>
            <a:off x="274320" y="3694176"/>
            <a:ext cx="64008" cy="5120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Text 24"/>
          <p:cNvSpPr/>
          <p:nvPr/>
        </p:nvSpPr>
        <p:spPr>
          <a:xfrm>
            <a:off x="896112" y="3758184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6112" y="3968496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inbound/outbound por componente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114800" cy="51206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9" name="Shape 27"/>
          <p:cNvSpPr/>
          <p:nvPr/>
        </p:nvSpPr>
        <p:spPr>
          <a:xfrm>
            <a:off x="274320" y="4270248"/>
            <a:ext cx="64008" cy="5120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0" name="Text 28"/>
          <p:cNvSpPr/>
          <p:nvPr/>
        </p:nvSpPr>
        <p:spPr>
          <a:xfrm>
            <a:off x="896112" y="4334256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Link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96112" y="454456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vía API Gateway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63440" y="1051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requeridas en autoservicio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1389888"/>
            <a:ext cx="420624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4" name="Shape 32"/>
          <p:cNvSpPr/>
          <p:nvPr/>
        </p:nvSpPr>
        <p:spPr>
          <a:xfrm>
            <a:off x="4663440" y="1389888"/>
            <a:ext cx="4206240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Shape 33"/>
          <p:cNvSpPr/>
          <p:nvPr/>
        </p:nvSpPr>
        <p:spPr>
          <a:xfrm>
            <a:off x="4800600" y="1645920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6" name="Text 34"/>
          <p:cNvSpPr/>
          <p:nvPr/>
        </p:nvSpPr>
        <p:spPr>
          <a:xfrm>
            <a:off x="5102352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Modificación de security groups sin ticket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800600" y="2112264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8" name="Text 36"/>
          <p:cNvSpPr/>
          <p:nvPr/>
        </p:nvSpPr>
        <p:spPr>
          <a:xfrm>
            <a:off x="5102352" y="203911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Adición de nuevas funciones Lambda al stack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800600" y="2578608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0" name="Text 38"/>
          <p:cNvSpPr/>
          <p:nvPr/>
        </p:nvSpPr>
        <p:spPr>
          <a:xfrm>
            <a:off x="5102352" y="250545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nuevas tablas DynamoDB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800600" y="3044952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2" name="Text 40"/>
          <p:cNvSpPr/>
          <p:nvPr/>
        </p:nvSpPr>
        <p:spPr>
          <a:xfrm>
            <a:off x="5102352" y="29718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IAM </a:t>
            </a:r>
            <a:r>
              <a:rPr lang="en-US" sz="115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predefinida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800600" y="3511296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4" name="Text 42"/>
          <p:cNvSpPr/>
          <p:nvPr/>
        </p:nvSpPr>
        <p:spPr>
          <a:xfrm>
            <a:off x="5102352" y="3438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Adición de microservicios con su propia VPC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800600" y="3977640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6" name="Text 44"/>
          <p:cNvSpPr/>
          <p:nvPr/>
        </p:nvSpPr>
        <p:spPr>
          <a:xfrm>
            <a:off x="5102352" y="39044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del owner y costo de cada recurso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800600" y="4443984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8" name="Text 46"/>
          <p:cNvSpPr/>
          <p:nvPr/>
        </p:nvSpPr>
        <p:spPr>
          <a:xfrm>
            <a:off x="5102352" y="43708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drift automática post-despliegue</a:t>
            </a:r>
            <a:endParaRPr lang="en-US" sz="115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81328"/>
            <a:ext cx="310896" cy="310896"/>
          </a:xfrm>
          <a:prstGeom prst="rect">
            <a:avLst/>
          </a:prstGeom>
        </p:spPr>
      </p:pic>
      <p:pic>
        <p:nvPicPr>
          <p:cNvPr id="5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785616"/>
            <a:ext cx="310896" cy="310896"/>
          </a:xfrm>
          <a:prstGeom prst="rect">
            <a:avLst/>
          </a:prstGeom>
        </p:spPr>
      </p:pic>
      <p:pic>
        <p:nvPicPr>
          <p:cNvPr id="5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4361688"/>
            <a:ext cx="310896" cy="310896"/>
          </a:xfrm>
          <a:prstGeom prst="rect">
            <a:avLst/>
          </a:prstGeom>
        </p:spPr>
      </p:pic>
      <p:pic>
        <p:nvPicPr>
          <p:cNvPr id="5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2633472"/>
            <a:ext cx="310896" cy="310896"/>
          </a:xfrm>
          <a:prstGeom prst="rect">
            <a:avLst/>
          </a:prstGeom>
        </p:spPr>
      </p:pic>
      <p:pic>
        <p:nvPicPr>
          <p:cNvPr id="5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" y="3209544"/>
            <a:ext cx="310896" cy="310896"/>
          </a:xfrm>
          <a:prstGeom prst="rect">
            <a:avLst/>
          </a:prstGeom>
        </p:spPr>
      </p:pic>
      <p:pic>
        <p:nvPicPr>
          <p:cNvPr id="5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" y="205740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Port como IDP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portal que abstrae la complejidad de AWS para todos los developers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8595360" cy="621792"/>
          </a:xfrm>
          <a:prstGeom prst="rect">
            <a:avLst/>
          </a:prstGeom>
          <a:solidFill>
            <a:srgbClr val="1B3A5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" name="Text 6"/>
          <p:cNvSpPr/>
          <p:nvPr/>
        </p:nvSpPr>
        <p:spPr>
          <a:xfrm>
            <a:off x="274320" y="105156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 →  IDP  →  CloudFormation  →  AWS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4320" y="1828800"/>
            <a:ext cx="2743200" cy="3090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0" name="Shape 8"/>
          <p:cNvSpPr/>
          <p:nvPr/>
        </p:nvSpPr>
        <p:spPr>
          <a:xfrm>
            <a:off x="274320" y="1828800"/>
            <a:ext cx="274320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1" name="Text 9"/>
          <p:cNvSpPr/>
          <p:nvPr/>
        </p:nvSpPr>
        <p:spPr>
          <a:xfrm>
            <a:off x="411480" y="1883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templates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" y="2532888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3" name="Text 11"/>
          <p:cNvSpPr/>
          <p:nvPr/>
        </p:nvSpPr>
        <p:spPr>
          <a:xfrm>
            <a:off x="694944" y="2450592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self-service en Port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8912" y="3136392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Text 13"/>
          <p:cNvSpPr/>
          <p:nvPr/>
        </p:nvSpPr>
        <p:spPr>
          <a:xfrm>
            <a:off x="694944" y="305409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Parámetros: servicio, región, env, Lambdas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3739896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7" name="Text 15"/>
          <p:cNvSpPr/>
          <p:nvPr/>
        </p:nvSpPr>
        <p:spPr>
          <a:xfrm>
            <a:off x="694944" y="365760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naming y tagging automática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8912" y="4343400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Text 17"/>
          <p:cNvSpPr/>
          <p:nvPr/>
        </p:nvSpPr>
        <p:spPr>
          <a:xfrm>
            <a:off x="694944" y="426110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path estandarizado para toda la org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72968" y="1828800"/>
            <a:ext cx="2743200" cy="3090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3172968" y="1828800"/>
            <a:ext cx="2743200" cy="47548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3310128" y="1883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Guardarraíles 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automático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37560" y="2532888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4" name="Text 22"/>
          <p:cNvSpPr/>
          <p:nvPr/>
        </p:nvSpPr>
        <p:spPr>
          <a:xfrm>
            <a:off x="3593592" y="2450592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cfn-guard valida políticas antes del deploy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37560" y="3136392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Text 24"/>
          <p:cNvSpPr/>
          <p:nvPr/>
        </p:nvSpPr>
        <p:spPr>
          <a:xfrm>
            <a:off x="3593592" y="305409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 enforceadas por AWS Organizations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37560" y="3739896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Text 26"/>
          <p:cNvSpPr/>
          <p:nvPr/>
        </p:nvSpPr>
        <p:spPr>
          <a:xfrm>
            <a:off x="3593592" y="365760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least privilege por defecto en templates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37560" y="4343400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0" name="Text 28"/>
          <p:cNvSpPr/>
          <p:nvPr/>
        </p:nvSpPr>
        <p:spPr>
          <a:xfrm>
            <a:off x="3593592" y="426110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 y budget alerts por squad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071616" y="1828800"/>
            <a:ext cx="2743200" cy="3090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2" name="Shape 30"/>
          <p:cNvSpPr/>
          <p:nvPr/>
        </p:nvSpPr>
        <p:spPr>
          <a:xfrm>
            <a:off x="6071616" y="1828800"/>
            <a:ext cx="274320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Text 31"/>
          <p:cNvSpPr/>
          <p:nvPr/>
        </p:nvSpPr>
        <p:spPr>
          <a:xfrm>
            <a:off x="6208776" y="1883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36208" y="2532888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Text 33"/>
          <p:cNvSpPr/>
          <p:nvPr/>
        </p:nvSpPr>
        <p:spPr>
          <a:xfrm>
            <a:off x="6492240" y="2450592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servicios con dueño claro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36208" y="3136392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7" name="Text 35"/>
          <p:cNvSpPr/>
          <p:nvPr/>
        </p:nvSpPr>
        <p:spPr>
          <a:xfrm>
            <a:off x="6492240" y="305409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 post-aprovisionamiento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36208" y="3739896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9" name="Text 37"/>
          <p:cNvSpPr/>
          <p:nvPr/>
        </p:nvSpPr>
        <p:spPr>
          <a:xfrm>
            <a:off x="6492240" y="365760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tags automáticos por stack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236208" y="4343400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1" name="Text 39"/>
          <p:cNvSpPr/>
          <p:nvPr/>
        </p:nvSpPr>
        <p:spPr>
          <a:xfrm>
            <a:off x="6492240" y="426110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integrado desde el día 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entrega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GitHub Actions · flujo GitOps end-to-end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58368"/>
            <a:ext cx="914400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Shape 4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3470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Shape 7"/>
          <p:cNvSpPr/>
          <p:nvPr/>
        </p:nvSpPr>
        <p:spPr>
          <a:xfrm>
            <a:off x="1534705" y="1664208"/>
            <a:ext cx="1298448" cy="7315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Text 8"/>
          <p:cNvSpPr/>
          <p:nvPr/>
        </p:nvSpPr>
        <p:spPr>
          <a:xfrm>
            <a:off x="160785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7857" y="2139696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dispara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workflow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07857" y="2761488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en el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IDP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833153" y="2468880"/>
            <a:ext cx="164592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Shape 12"/>
          <p:cNvSpPr/>
          <p:nvPr/>
        </p:nvSpPr>
        <p:spPr>
          <a:xfrm>
            <a:off x="299774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Shape 13"/>
          <p:cNvSpPr/>
          <p:nvPr/>
        </p:nvSpPr>
        <p:spPr>
          <a:xfrm>
            <a:off x="2997745" y="1664208"/>
            <a:ext cx="1298448" cy="7315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6" name="Text 14"/>
          <p:cNvSpPr/>
          <p:nvPr/>
        </p:nvSpPr>
        <p:spPr>
          <a:xfrm>
            <a:off x="307089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070897" y="2139696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evento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70897" y="2761488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→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workflow.yml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296193" y="2468880"/>
            <a:ext cx="164592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0" name="Shape 18"/>
          <p:cNvSpPr/>
          <p:nvPr/>
        </p:nvSpPr>
        <p:spPr>
          <a:xfrm>
            <a:off x="446078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4460785" y="1664208"/>
            <a:ext cx="1298448" cy="7315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453393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33937" y="2139696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template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 (Jinja2)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33937" y="2761488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 →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YAML/JSON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759233" y="2468880"/>
            <a:ext cx="164592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Shape 24"/>
          <p:cNvSpPr/>
          <p:nvPr/>
        </p:nvSpPr>
        <p:spPr>
          <a:xfrm>
            <a:off x="592382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7" name="Shape 25"/>
          <p:cNvSpPr/>
          <p:nvPr/>
        </p:nvSpPr>
        <p:spPr>
          <a:xfrm>
            <a:off x="5923825" y="1664208"/>
            <a:ext cx="129844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Text 26"/>
          <p:cNvSpPr/>
          <p:nvPr/>
        </p:nvSpPr>
        <p:spPr>
          <a:xfrm>
            <a:off x="599697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6070129" y="2134343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deploy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Service Cat.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74961" y="2781300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Create/update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53F32D-7924-ADC9-6350-9AA423A9E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21B58-C9E5-08A2-564B-EE4354F455B0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 sz="1400">
              <a:latin typeface="TWK Everett" panose="020B0204000000000000" pitchFamily="34" charset="77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105570E-CD8A-9C0F-98E4-6881194E8074}"/>
              </a:ext>
            </a:extLst>
          </p:cNvPr>
          <p:cNvSpPr/>
          <p:nvPr/>
        </p:nvSpPr>
        <p:spPr>
          <a:xfrm>
            <a:off x="3657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13B08D"/>
                </a:solidFill>
                <a:latin typeface="TWK Everett" panose="020B0204000000000000" pitchFamily="34" charset="77"/>
                <a:ea typeface="Calibri" pitchFamily="34" charset="-122"/>
                <a:cs typeface="Calibri" pitchFamily="34" charset="-120"/>
              </a:rPr>
              <a:t>INGENIERÍA DE PLATAFORMA</a:t>
            </a:r>
            <a:endParaRPr lang="en-US" sz="800" dirty="0">
              <a:latin typeface="TWK Everett" panose="020B0204000000000000" pitchFamily="34" charset="7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5A7EFE9-B716-70D0-6CC2-E1861C276FDD}"/>
              </a:ext>
            </a:extLst>
          </p:cNvPr>
          <p:cNvSpPr/>
          <p:nvPr/>
        </p:nvSpPr>
        <p:spPr>
          <a:xfrm>
            <a:off x="365760" y="9601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WK Everett" panose="020B0204000000000000" pitchFamily="34" charset="77"/>
                <a:ea typeface="Calibri" pitchFamily="34" charset="-122"/>
                <a:cs typeface="Calibri" pitchFamily="34" charset="-120"/>
              </a:rPr>
              <a:t>DEMO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WK Everett" panose="020B0204000000000000" pitchFamily="34" charset="77"/>
                <a:ea typeface="Calibri" pitchFamily="34" charset="-122"/>
                <a:cs typeface="Calibri" pitchFamily="34" charset="-120"/>
              </a:rPr>
              <a:t>Accelerate provisioning resources with Self Service</a:t>
            </a:r>
            <a:endParaRPr lang="en-US" sz="3600" dirty="0">
              <a:latin typeface="TWK Everett" panose="020B0204000000000000" pitchFamily="34" charset="77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04B3857-2D39-CC7E-7A9D-9932A39265A1}"/>
              </a:ext>
            </a:extLst>
          </p:cNvPr>
          <p:cNvSpPr/>
          <p:nvPr/>
        </p:nvSpPr>
        <p:spPr>
          <a:xfrm>
            <a:off x="365760" y="26517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TWK Everett" panose="020B0204000000000000" pitchFamily="34" charset="77"/>
                <a:ea typeface="Calibri" pitchFamily="34" charset="-122"/>
                <a:cs typeface="Calibri" pitchFamily="34" charset="-120"/>
              </a:rPr>
              <a:t>SESIÓN II</a:t>
            </a:r>
            <a:endParaRPr lang="en-US" sz="1100" dirty="0">
              <a:latin typeface="TWK Everett" panose="020B0204000000000000" pitchFamily="34" charset="77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DE15FAD-EB49-6D71-E584-C3E9F4923A00}"/>
              </a:ext>
            </a:extLst>
          </p:cNvPr>
          <p:cNvSpPr/>
          <p:nvPr/>
        </p:nvSpPr>
        <p:spPr>
          <a:xfrm>
            <a:off x="365760" y="3749040"/>
            <a:ext cx="32004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 sz="1400">
              <a:latin typeface="TWK Everett" panose="020B0204000000000000" pitchFamily="34" charset="77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E61DF76-AFAD-A521-1035-1CAB77654870}"/>
              </a:ext>
            </a:extLst>
          </p:cNvPr>
          <p:cNvSpPr/>
          <p:nvPr/>
        </p:nvSpPr>
        <p:spPr>
          <a:xfrm>
            <a:off x="365760" y="38587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TWK Everett" panose="020B0204000000000000" pitchFamily="34" charset="77"/>
                <a:ea typeface="Calibri" pitchFamily="34" charset="-122"/>
                <a:cs typeface="Calibri" pitchFamily="34" charset="-120"/>
              </a:rPr>
              <a:t>Banco Itaú + Kyndryl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TWK Everett" panose="020B0204000000000000" pitchFamily="34" charset="77"/>
                <a:cs typeface="Calibri" pitchFamily="34" charset="-120"/>
              </a:rPr>
              <a:t>Abril 2026</a:t>
            </a:r>
            <a:endParaRPr lang="en-US" sz="1000" dirty="0">
              <a:latin typeface="TWK Everett" panose="020B0204000000000000" pitchFamily="34" charset="7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9A2C807-8EA8-7591-AA5A-3E878B2F14B2}"/>
              </a:ext>
            </a:extLst>
          </p:cNvPr>
          <p:cNvSpPr/>
          <p:nvPr/>
        </p:nvSpPr>
        <p:spPr>
          <a:xfrm>
            <a:off x="7498080" y="548640"/>
            <a:ext cx="1463040" cy="1463040"/>
          </a:xfrm>
          <a:prstGeom prst="rect">
            <a:avLst/>
          </a:prstGeom>
          <a:solidFill>
            <a:srgbClr val="1E5FA8">
              <a:alpha val="30000"/>
            </a:srgbClr>
          </a:solidFill>
          <a:ln w="12700">
            <a:solidFill>
              <a:srgbClr val="1E5FA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O" sz="1400">
              <a:latin typeface="TWK Everett" panose="020B0204000000000000" pitchFamily="34" charset="77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6DA6037C-BA94-22C5-059B-1C318EC4FC55}"/>
              </a:ext>
            </a:extLst>
          </p:cNvPr>
          <p:cNvSpPr/>
          <p:nvPr/>
        </p:nvSpPr>
        <p:spPr>
          <a:xfrm>
            <a:off x="7863840" y="1280160"/>
            <a:ext cx="1280160" cy="2926080"/>
          </a:xfrm>
          <a:prstGeom prst="rect">
            <a:avLst/>
          </a:prstGeom>
          <a:solidFill>
            <a:srgbClr val="0B8A6E">
              <a:alpha val="25000"/>
            </a:srgbClr>
          </a:solidFill>
          <a:ln w="12700">
            <a:solidFill>
              <a:srgbClr val="0B8A6E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CO" sz="1400">
              <a:latin typeface="TWK Everett" panose="020B0204000000000000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4231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2D47D1-A076-C7AD-8991-72CDB82C1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9E5880FD-4D96-55A1-B87F-94DB4D5C198E}"/>
              </a:ext>
            </a:extLst>
          </p:cNvPr>
          <p:cNvCxnSpPr>
            <a:cxnSpLocks/>
            <a:stCxn id="180" idx="3"/>
            <a:endCxn id="165" idx="1"/>
          </p:cNvCxnSpPr>
          <p:nvPr/>
        </p:nvCxnSpPr>
        <p:spPr>
          <a:xfrm>
            <a:off x="5264610" y="3637330"/>
            <a:ext cx="1373410" cy="45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430C6F15-3806-28E0-7C41-FB75F05FF6A6}"/>
              </a:ext>
            </a:extLst>
          </p:cNvPr>
          <p:cNvCxnSpPr>
            <a:stCxn id="173" idx="3"/>
            <a:endCxn id="164" idx="1"/>
          </p:cNvCxnSpPr>
          <p:nvPr/>
        </p:nvCxnSpPr>
        <p:spPr>
          <a:xfrm>
            <a:off x="5253567" y="2650375"/>
            <a:ext cx="2100751" cy="97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hape 0">
            <a:extLst>
              <a:ext uri="{FF2B5EF4-FFF2-40B4-BE49-F238E27FC236}">
                <a16:creationId xmlns:a16="http://schemas.microsoft.com/office/drawing/2014/main" id="{C5963378-FF58-56BC-88D1-06BC3C9DDE33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8793B7-85A1-3F3F-47C1-03D9D998AE40}"/>
              </a:ext>
            </a:extLst>
          </p:cNvPr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I: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Aprovisionamiento</a:t>
            </a:r>
            <a:endParaRPr lang="en-US" sz="2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44B9858-8891-19A2-8C1F-CBAA3C0A00A9}"/>
              </a:ext>
            </a:extLst>
          </p:cNvPr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CEFF674-B166-5C0D-83F1-5B8C6EEF9361}"/>
              </a:ext>
            </a:extLst>
          </p:cNvPr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4" name="Shape 5">
            <a:extLst>
              <a:ext uri="{FF2B5EF4-FFF2-40B4-BE49-F238E27FC236}">
                <a16:creationId xmlns:a16="http://schemas.microsoft.com/office/drawing/2014/main" id="{F77DB674-336A-D7E5-AC07-A5D56314A3AE}"/>
              </a:ext>
            </a:extLst>
          </p:cNvPr>
          <p:cNvSpPr/>
          <p:nvPr/>
        </p:nvSpPr>
        <p:spPr>
          <a:xfrm>
            <a:off x="792985" y="1375066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5" name="Text 6">
            <a:extLst>
              <a:ext uri="{FF2B5EF4-FFF2-40B4-BE49-F238E27FC236}">
                <a16:creationId xmlns:a16="http://schemas.microsoft.com/office/drawing/2014/main" id="{4B116ABA-51FA-E5AB-D4FF-F2BE7B547EAB}"/>
              </a:ext>
            </a:extLst>
          </p:cNvPr>
          <p:cNvSpPr/>
          <p:nvPr/>
        </p:nvSpPr>
        <p:spPr>
          <a:xfrm>
            <a:off x="792985" y="137506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 · Developer</a:t>
            </a:r>
            <a:endParaRPr lang="en-US" sz="1000" dirty="0"/>
          </a:p>
        </p:txBody>
      </p:sp>
      <p:sp>
        <p:nvSpPr>
          <p:cNvPr id="76" name="Shape 7">
            <a:extLst>
              <a:ext uri="{FF2B5EF4-FFF2-40B4-BE49-F238E27FC236}">
                <a16:creationId xmlns:a16="http://schemas.microsoft.com/office/drawing/2014/main" id="{6424DE93-DA65-BC41-3237-B632F9F2FA9D}"/>
              </a:ext>
            </a:extLst>
          </p:cNvPr>
          <p:cNvSpPr/>
          <p:nvPr/>
        </p:nvSpPr>
        <p:spPr>
          <a:xfrm>
            <a:off x="2896105" y="1585378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7" name="Shape 8">
            <a:extLst>
              <a:ext uri="{FF2B5EF4-FFF2-40B4-BE49-F238E27FC236}">
                <a16:creationId xmlns:a16="http://schemas.microsoft.com/office/drawing/2014/main" id="{9AED4C6E-F89C-EA62-7579-36C655BD83C4}"/>
              </a:ext>
            </a:extLst>
          </p:cNvPr>
          <p:cNvSpPr/>
          <p:nvPr/>
        </p:nvSpPr>
        <p:spPr>
          <a:xfrm>
            <a:off x="3152138" y="1213963"/>
            <a:ext cx="1847087" cy="765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8" name="Shape 9">
            <a:extLst>
              <a:ext uri="{FF2B5EF4-FFF2-40B4-BE49-F238E27FC236}">
                <a16:creationId xmlns:a16="http://schemas.microsoft.com/office/drawing/2014/main" id="{474C49E6-F8D8-01FF-79EC-D355E4F4E632}"/>
              </a:ext>
            </a:extLst>
          </p:cNvPr>
          <p:cNvSpPr/>
          <p:nvPr/>
        </p:nvSpPr>
        <p:spPr>
          <a:xfrm>
            <a:off x="3152137" y="1375066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C5E7FE9E-E7B7-434D-F4F8-2493DC7B7A9D}"/>
              </a:ext>
            </a:extLst>
          </p:cNvPr>
          <p:cNvSpPr/>
          <p:nvPr/>
        </p:nvSpPr>
        <p:spPr>
          <a:xfrm>
            <a:off x="1789682" y="1825526"/>
            <a:ext cx="45719" cy="4616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1" name="Shape 12">
            <a:extLst>
              <a:ext uri="{FF2B5EF4-FFF2-40B4-BE49-F238E27FC236}">
                <a16:creationId xmlns:a16="http://schemas.microsoft.com/office/drawing/2014/main" id="{45692929-0E44-AD9D-58CA-3F38AA7392CC}"/>
              </a:ext>
            </a:extLst>
          </p:cNvPr>
          <p:cNvSpPr/>
          <p:nvPr/>
        </p:nvSpPr>
        <p:spPr>
          <a:xfrm>
            <a:off x="792985" y="2333749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2" name="Text 13">
            <a:extLst>
              <a:ext uri="{FF2B5EF4-FFF2-40B4-BE49-F238E27FC236}">
                <a16:creationId xmlns:a16="http://schemas.microsoft.com/office/drawing/2014/main" id="{736BFBDC-929A-7888-7E3A-2A2035C6AD9C}"/>
              </a:ext>
            </a:extLst>
          </p:cNvPr>
          <p:cNvSpPr/>
          <p:nvPr/>
        </p:nvSpPr>
        <p:spPr>
          <a:xfrm>
            <a:off x="792985" y="2333749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 · DevOps</a:t>
            </a:r>
            <a:endParaRPr lang="en-US" sz="1000" dirty="0"/>
          </a:p>
        </p:txBody>
      </p:sp>
      <p:sp>
        <p:nvSpPr>
          <p:cNvPr id="83" name="Shape 14">
            <a:extLst>
              <a:ext uri="{FF2B5EF4-FFF2-40B4-BE49-F238E27FC236}">
                <a16:creationId xmlns:a16="http://schemas.microsoft.com/office/drawing/2014/main" id="{E21D3174-15F2-7E10-1EA5-44DB327FB4D8}"/>
              </a:ext>
            </a:extLst>
          </p:cNvPr>
          <p:cNvSpPr/>
          <p:nvPr/>
        </p:nvSpPr>
        <p:spPr>
          <a:xfrm>
            <a:off x="2896105" y="2544061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4" name="Shape 15">
            <a:extLst>
              <a:ext uri="{FF2B5EF4-FFF2-40B4-BE49-F238E27FC236}">
                <a16:creationId xmlns:a16="http://schemas.microsoft.com/office/drawing/2014/main" id="{E0AB413C-BD39-F891-D659-8157AD163385}"/>
              </a:ext>
            </a:extLst>
          </p:cNvPr>
          <p:cNvSpPr/>
          <p:nvPr/>
        </p:nvSpPr>
        <p:spPr>
          <a:xfrm>
            <a:off x="3152138" y="2212837"/>
            <a:ext cx="1847088" cy="76591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5" name="Shape 16">
            <a:extLst>
              <a:ext uri="{FF2B5EF4-FFF2-40B4-BE49-F238E27FC236}">
                <a16:creationId xmlns:a16="http://schemas.microsoft.com/office/drawing/2014/main" id="{B36C29F2-F4E4-C4AB-F543-F53B1995CA4C}"/>
              </a:ext>
            </a:extLst>
          </p:cNvPr>
          <p:cNvSpPr/>
          <p:nvPr/>
        </p:nvSpPr>
        <p:spPr>
          <a:xfrm>
            <a:off x="3152137" y="2333749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7" name="Shape 18">
            <a:extLst>
              <a:ext uri="{FF2B5EF4-FFF2-40B4-BE49-F238E27FC236}">
                <a16:creationId xmlns:a16="http://schemas.microsoft.com/office/drawing/2014/main" id="{DAF0A5FD-A6F6-36C5-B7E0-83F0FCAD9266}"/>
              </a:ext>
            </a:extLst>
          </p:cNvPr>
          <p:cNvSpPr/>
          <p:nvPr/>
        </p:nvSpPr>
        <p:spPr>
          <a:xfrm>
            <a:off x="1798824" y="2512760"/>
            <a:ext cx="45719" cy="92010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8" name="Shape 19">
            <a:extLst>
              <a:ext uri="{FF2B5EF4-FFF2-40B4-BE49-F238E27FC236}">
                <a16:creationId xmlns:a16="http://schemas.microsoft.com/office/drawing/2014/main" id="{010DE188-5990-2949-DEFC-15BF9A2C86DF}"/>
              </a:ext>
            </a:extLst>
          </p:cNvPr>
          <p:cNvSpPr/>
          <p:nvPr/>
        </p:nvSpPr>
        <p:spPr>
          <a:xfrm>
            <a:off x="792985" y="3413344"/>
            <a:ext cx="21031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9" name="Text 20">
            <a:extLst>
              <a:ext uri="{FF2B5EF4-FFF2-40B4-BE49-F238E27FC236}">
                <a16:creationId xmlns:a16="http://schemas.microsoft.com/office/drawing/2014/main" id="{09C19F19-3BEB-117C-1E14-BCA102006766}"/>
              </a:ext>
            </a:extLst>
          </p:cNvPr>
          <p:cNvSpPr/>
          <p:nvPr/>
        </p:nvSpPr>
        <p:spPr>
          <a:xfrm>
            <a:off x="792985" y="3413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3 · DevOps</a:t>
            </a:r>
            <a:endParaRPr lang="en-US" sz="1000" dirty="0"/>
          </a:p>
        </p:txBody>
      </p:sp>
      <p:sp>
        <p:nvSpPr>
          <p:cNvPr id="90" name="Shape 21">
            <a:extLst>
              <a:ext uri="{FF2B5EF4-FFF2-40B4-BE49-F238E27FC236}">
                <a16:creationId xmlns:a16="http://schemas.microsoft.com/office/drawing/2014/main" id="{A1C6F18D-1835-3DF0-8AD8-1E8C46D6ECD6}"/>
              </a:ext>
            </a:extLst>
          </p:cNvPr>
          <p:cNvSpPr/>
          <p:nvPr/>
        </p:nvSpPr>
        <p:spPr>
          <a:xfrm>
            <a:off x="2896105" y="3623656"/>
            <a:ext cx="22860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1" name="Shape 22">
            <a:extLst>
              <a:ext uri="{FF2B5EF4-FFF2-40B4-BE49-F238E27FC236}">
                <a16:creationId xmlns:a16="http://schemas.microsoft.com/office/drawing/2014/main" id="{4212E5E0-33C9-4B1E-16F8-365A43BEFD3E}"/>
              </a:ext>
            </a:extLst>
          </p:cNvPr>
          <p:cNvSpPr/>
          <p:nvPr/>
        </p:nvSpPr>
        <p:spPr>
          <a:xfrm>
            <a:off x="3152137" y="3255499"/>
            <a:ext cx="1847088" cy="800439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7BCC5096-E60A-CFEA-22A3-BC53A392A39B}"/>
              </a:ext>
            </a:extLst>
          </p:cNvPr>
          <p:cNvSpPr/>
          <p:nvPr/>
        </p:nvSpPr>
        <p:spPr>
          <a:xfrm>
            <a:off x="3152137" y="3413344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6" name="Text 27">
            <a:extLst>
              <a:ext uri="{FF2B5EF4-FFF2-40B4-BE49-F238E27FC236}">
                <a16:creationId xmlns:a16="http://schemas.microsoft.com/office/drawing/2014/main" id="{DC7A3EEE-3150-D748-19D2-CE0429BBC7A5}"/>
              </a:ext>
            </a:extLst>
          </p:cNvPr>
          <p:cNvSpPr/>
          <p:nvPr/>
        </p:nvSpPr>
        <p:spPr>
          <a:xfrm>
            <a:off x="5357858" y="2203447"/>
            <a:ext cx="579143" cy="1845232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Port.io</a:t>
            </a:r>
            <a:endParaRPr lang="en-US" sz="8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Catalog</a:t>
            </a:r>
            <a:endParaRPr lang="en-US" sz="800" dirty="0"/>
          </a:p>
        </p:txBody>
      </p:sp>
      <p:sp>
        <p:nvSpPr>
          <p:cNvPr id="79" name="Text 10">
            <a:extLst>
              <a:ext uri="{FF2B5EF4-FFF2-40B4-BE49-F238E27FC236}">
                <a16:creationId xmlns:a16="http://schemas.microsoft.com/office/drawing/2014/main" id="{D8FF2859-45AA-6F35-A2AA-2DF399D2B501}"/>
              </a:ext>
            </a:extLst>
          </p:cNvPr>
          <p:cNvSpPr/>
          <p:nvPr/>
        </p:nvSpPr>
        <p:spPr>
          <a:xfrm>
            <a:off x="3323502" y="2319797"/>
            <a:ext cx="141485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Aprovisiona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AWS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stack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solicitado</a:t>
            </a:r>
            <a:endParaRPr lang="en-US" sz="1100" dirty="0"/>
          </a:p>
        </p:txBody>
      </p:sp>
      <p:sp>
        <p:nvSpPr>
          <p:cNvPr id="157" name="Text 10">
            <a:extLst>
              <a:ext uri="{FF2B5EF4-FFF2-40B4-BE49-F238E27FC236}">
                <a16:creationId xmlns:a16="http://schemas.microsoft.com/office/drawing/2014/main" id="{55DD13EA-C77F-D6C2-1C29-9863011AF690}"/>
              </a:ext>
            </a:extLst>
          </p:cNvPr>
          <p:cNvSpPr/>
          <p:nvPr/>
        </p:nvSpPr>
        <p:spPr>
          <a:xfrm>
            <a:off x="3316730" y="3408772"/>
            <a:ext cx="15424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basado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stack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solicitado</a:t>
            </a:r>
            <a:endParaRPr lang="en-US" sz="1100" dirty="0"/>
          </a:p>
        </p:txBody>
      </p:sp>
      <p:sp>
        <p:nvSpPr>
          <p:cNvPr id="158" name="Text 10">
            <a:extLst>
              <a:ext uri="{FF2B5EF4-FFF2-40B4-BE49-F238E27FC236}">
                <a16:creationId xmlns:a16="http://schemas.microsoft.com/office/drawing/2014/main" id="{F28D2298-8827-6D43-C511-8146B01483CC}"/>
              </a:ext>
            </a:extLst>
          </p:cNvPr>
          <p:cNvSpPr/>
          <p:nvPr/>
        </p:nvSpPr>
        <p:spPr>
          <a:xfrm>
            <a:off x="3316728" y="1355569"/>
            <a:ext cx="161261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Aprovisionamiento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Desarrollo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</a:t>
            </a: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stack del </a:t>
            </a:r>
            <a:r>
              <a:rPr lang="en-US" sz="11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</a:t>
            </a:r>
            <a:endParaRPr lang="en-US" sz="1100" dirty="0"/>
          </a:p>
        </p:txBody>
      </p:sp>
      <p:sp>
        <p:nvSpPr>
          <p:cNvPr id="160" name="Text 27">
            <a:extLst>
              <a:ext uri="{FF2B5EF4-FFF2-40B4-BE49-F238E27FC236}">
                <a16:creationId xmlns:a16="http://schemas.microsoft.com/office/drawing/2014/main" id="{9E9296E7-BCDE-2FF1-CA6B-B1419C00053F}"/>
              </a:ext>
            </a:extLst>
          </p:cNvPr>
          <p:cNvSpPr/>
          <p:nvPr/>
        </p:nvSpPr>
        <p:spPr>
          <a:xfrm>
            <a:off x="5992545" y="2203447"/>
            <a:ext cx="598590" cy="1862680"/>
          </a:xfrm>
          <a:prstGeom prst="rect">
            <a:avLst/>
          </a:prstGeom>
          <a:solidFill>
            <a:srgbClr val="1D5EA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800" dirty="0"/>
          </a:p>
        </p:txBody>
      </p:sp>
      <p:sp>
        <p:nvSpPr>
          <p:cNvPr id="164" name="Text 27">
            <a:extLst>
              <a:ext uri="{FF2B5EF4-FFF2-40B4-BE49-F238E27FC236}">
                <a16:creationId xmlns:a16="http://schemas.microsoft.com/office/drawing/2014/main" id="{0E7C0A70-0AC6-F79D-6B7C-25CBE95ED692}"/>
              </a:ext>
            </a:extLst>
          </p:cNvPr>
          <p:cNvSpPr/>
          <p:nvPr/>
        </p:nvSpPr>
        <p:spPr>
          <a:xfrm>
            <a:off x="7354318" y="2210951"/>
            <a:ext cx="1239124" cy="898269"/>
          </a:xfrm>
          <a:prstGeom prst="rect">
            <a:avLst/>
          </a:prstGeom>
          <a:solidFill>
            <a:srgbClr val="333F50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800" dirty="0"/>
          </a:p>
        </p:txBody>
      </p:sp>
      <p:sp>
        <p:nvSpPr>
          <p:cNvPr id="165" name="Text 27">
            <a:extLst>
              <a:ext uri="{FF2B5EF4-FFF2-40B4-BE49-F238E27FC236}">
                <a16:creationId xmlns:a16="http://schemas.microsoft.com/office/drawing/2014/main" id="{5C1D7FBA-0C20-1D7C-1FA4-C0361163BC2B}"/>
              </a:ext>
            </a:extLst>
          </p:cNvPr>
          <p:cNvSpPr/>
          <p:nvPr/>
        </p:nvSpPr>
        <p:spPr>
          <a:xfrm>
            <a:off x="6638020" y="3211512"/>
            <a:ext cx="1955422" cy="860748"/>
          </a:xfrm>
          <a:prstGeom prst="rect">
            <a:avLst/>
          </a:prstGeom>
          <a:solidFill>
            <a:srgbClr val="1A395C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Repository 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From template</a:t>
            </a:r>
            <a:endParaRPr lang="en-US" sz="800" dirty="0"/>
          </a:p>
        </p:txBody>
      </p:sp>
      <p:sp>
        <p:nvSpPr>
          <p:cNvPr id="167" name="Text 8">
            <a:extLst>
              <a:ext uri="{FF2B5EF4-FFF2-40B4-BE49-F238E27FC236}">
                <a16:creationId xmlns:a16="http://schemas.microsoft.com/office/drawing/2014/main" id="{621A0520-5314-8A27-9D7B-6C312498E479}"/>
              </a:ext>
            </a:extLst>
          </p:cNvPr>
          <p:cNvSpPr/>
          <p:nvPr/>
        </p:nvSpPr>
        <p:spPr>
          <a:xfrm>
            <a:off x="7769294" y="2846433"/>
            <a:ext cx="8241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Scaffold</a:t>
            </a:r>
            <a:endParaRPr lang="en-US" sz="700" dirty="0">
              <a:solidFill>
                <a:schemeClr val="bg1"/>
              </a:solidFill>
            </a:endParaRPr>
          </a:p>
        </p:txBody>
      </p:sp>
      <p:sp>
        <p:nvSpPr>
          <p:cNvPr id="168" name="Text 12">
            <a:extLst>
              <a:ext uri="{FF2B5EF4-FFF2-40B4-BE49-F238E27FC236}">
                <a16:creationId xmlns:a16="http://schemas.microsoft.com/office/drawing/2014/main" id="{AA256AF6-2F8C-A485-8B0D-9293858C93D1}"/>
              </a:ext>
            </a:extLst>
          </p:cNvPr>
          <p:cNvSpPr/>
          <p:nvPr/>
        </p:nvSpPr>
        <p:spPr>
          <a:xfrm>
            <a:off x="7769294" y="2636545"/>
            <a:ext cx="8241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700" dirty="0">
              <a:solidFill>
                <a:schemeClr val="bg1"/>
              </a:solidFill>
            </a:endParaRPr>
          </a:p>
        </p:txBody>
      </p:sp>
      <p:sp>
        <p:nvSpPr>
          <p:cNvPr id="169" name="Text 16">
            <a:extLst>
              <a:ext uri="{FF2B5EF4-FFF2-40B4-BE49-F238E27FC236}">
                <a16:creationId xmlns:a16="http://schemas.microsoft.com/office/drawing/2014/main" id="{6743E5A3-B109-99AC-DA45-B1601E41D980}"/>
              </a:ext>
            </a:extLst>
          </p:cNvPr>
          <p:cNvSpPr/>
          <p:nvPr/>
        </p:nvSpPr>
        <p:spPr>
          <a:xfrm>
            <a:off x="7769294" y="2404959"/>
            <a:ext cx="8241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Endpoints</a:t>
            </a:r>
            <a:endParaRPr lang="en-US" sz="700" dirty="0">
              <a:solidFill>
                <a:schemeClr val="bg1"/>
              </a:solidFill>
            </a:endParaRPr>
          </a:p>
        </p:txBody>
      </p:sp>
      <p:pic>
        <p:nvPicPr>
          <p:cNvPr id="170" name="Image 0" descr="preencoded.png">
            <a:extLst>
              <a:ext uri="{FF2B5EF4-FFF2-40B4-BE49-F238E27FC236}">
                <a16:creationId xmlns:a16="http://schemas.microsoft.com/office/drawing/2014/main" id="{6D5A7908-1575-F64C-981E-6FEC7EA51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750" y="2845078"/>
            <a:ext cx="180000" cy="180000"/>
          </a:xfrm>
          <a:prstGeom prst="rect">
            <a:avLst/>
          </a:prstGeom>
        </p:spPr>
      </p:pic>
      <p:pic>
        <p:nvPicPr>
          <p:cNvPr id="171" name="Image 3" descr="preencoded.png">
            <a:extLst>
              <a:ext uri="{FF2B5EF4-FFF2-40B4-BE49-F238E27FC236}">
                <a16:creationId xmlns:a16="http://schemas.microsoft.com/office/drawing/2014/main" id="{E662E02E-1710-2F19-5639-8A54E0180C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13" y="2408729"/>
            <a:ext cx="180000" cy="180000"/>
          </a:xfrm>
          <a:prstGeom prst="rect">
            <a:avLst/>
          </a:prstGeom>
        </p:spPr>
      </p:pic>
      <p:pic>
        <p:nvPicPr>
          <p:cNvPr id="172" name="Image 5" descr="preencoded.png">
            <a:extLst>
              <a:ext uri="{FF2B5EF4-FFF2-40B4-BE49-F238E27FC236}">
                <a16:creationId xmlns:a16="http://schemas.microsoft.com/office/drawing/2014/main" id="{9F41C6FA-0C0E-DE65-E796-1B3FB1CC4C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013" y="2624036"/>
            <a:ext cx="180000" cy="180000"/>
          </a:xfrm>
          <a:prstGeom prst="rect">
            <a:avLst/>
          </a:prstGeom>
        </p:spPr>
      </p:pic>
      <p:sp>
        <p:nvSpPr>
          <p:cNvPr id="173" name="Right Arrow 172">
            <a:extLst>
              <a:ext uri="{FF2B5EF4-FFF2-40B4-BE49-F238E27FC236}">
                <a16:creationId xmlns:a16="http://schemas.microsoft.com/office/drawing/2014/main" id="{054D3228-CB0D-5395-C8F1-75C1887CA745}"/>
              </a:ext>
            </a:extLst>
          </p:cNvPr>
          <p:cNvSpPr/>
          <p:nvPr/>
        </p:nvSpPr>
        <p:spPr>
          <a:xfrm>
            <a:off x="5054770" y="2525068"/>
            <a:ext cx="198797" cy="250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180" name="Right Arrow 179">
            <a:extLst>
              <a:ext uri="{FF2B5EF4-FFF2-40B4-BE49-F238E27FC236}">
                <a16:creationId xmlns:a16="http://schemas.microsoft.com/office/drawing/2014/main" id="{82D2D1E1-4CB6-75F3-01C8-C24A761C037C}"/>
              </a:ext>
            </a:extLst>
          </p:cNvPr>
          <p:cNvSpPr/>
          <p:nvPr/>
        </p:nvSpPr>
        <p:spPr>
          <a:xfrm>
            <a:off x="5065813" y="3512023"/>
            <a:ext cx="198797" cy="250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182" name="Text 16">
            <a:extLst>
              <a:ext uri="{FF2B5EF4-FFF2-40B4-BE49-F238E27FC236}">
                <a16:creationId xmlns:a16="http://schemas.microsoft.com/office/drawing/2014/main" id="{1021D4D1-C9E2-19A6-C5D1-E131FF77B6AD}"/>
              </a:ext>
            </a:extLst>
          </p:cNvPr>
          <p:cNvSpPr/>
          <p:nvPr/>
        </p:nvSpPr>
        <p:spPr>
          <a:xfrm>
            <a:off x="7584455" y="3500718"/>
            <a:ext cx="565574" cy="518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CI/CD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SRC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Test</a:t>
            </a:r>
          </a:p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Readme</a:t>
            </a:r>
            <a:endParaRPr lang="en-US" sz="700" dirty="0">
              <a:solidFill>
                <a:schemeClr val="bg1"/>
              </a:solidFill>
            </a:endParaRPr>
          </a:p>
        </p:txBody>
      </p:sp>
      <p:pic>
        <p:nvPicPr>
          <p:cNvPr id="183" name="Image 7" descr="preencoded.png">
            <a:extLst>
              <a:ext uri="{FF2B5EF4-FFF2-40B4-BE49-F238E27FC236}">
                <a16:creationId xmlns:a16="http://schemas.microsoft.com/office/drawing/2014/main" id="{C3FB2A52-9336-7D31-A6A7-3C669B8E3B8B}"/>
              </a:ext>
            </a:extLst>
          </p:cNvPr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7184096" y="3598748"/>
            <a:ext cx="274320" cy="274320"/>
          </a:xfrm>
          <a:prstGeom prst="rect">
            <a:avLst/>
          </a:prstGeom>
        </p:spPr>
      </p:pic>
      <p:sp>
        <p:nvSpPr>
          <p:cNvPr id="184" name="Text 27">
            <a:extLst>
              <a:ext uri="{FF2B5EF4-FFF2-40B4-BE49-F238E27FC236}">
                <a16:creationId xmlns:a16="http://schemas.microsoft.com/office/drawing/2014/main" id="{C8C9595B-4BE4-9781-BB1E-57C9BCB96F9C}"/>
              </a:ext>
            </a:extLst>
          </p:cNvPr>
          <p:cNvSpPr/>
          <p:nvPr/>
        </p:nvSpPr>
        <p:spPr>
          <a:xfrm>
            <a:off x="6653134" y="2201241"/>
            <a:ext cx="635017" cy="898269"/>
          </a:xfrm>
          <a:prstGeom prst="rect">
            <a:avLst/>
          </a:prstGeom>
          <a:solidFill>
            <a:srgbClr val="333F5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Cloud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Formation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994971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88DD30-B14A-A4E6-171E-A47A21416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138229-2867-EC5E-AD35-05D9EE151EEC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E01166-710A-83EB-8E9F-0A103C5A5AA4}"/>
              </a:ext>
            </a:extLst>
          </p:cNvPr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II: Development &amp; Deployment</a:t>
            </a:r>
            <a:endParaRPr lang="en-US" sz="2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00245BF-0C10-56E2-8F5D-BC019D2F438C}"/>
              </a:ext>
            </a:extLst>
          </p:cNvPr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AC3388A-B4BD-D8B8-ACA4-64C8384742CB}"/>
              </a:ext>
            </a:extLst>
          </p:cNvPr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4" name="Shape 5">
            <a:extLst>
              <a:ext uri="{FF2B5EF4-FFF2-40B4-BE49-F238E27FC236}">
                <a16:creationId xmlns:a16="http://schemas.microsoft.com/office/drawing/2014/main" id="{626A3963-A8F5-F52E-700E-C4E655F214AA}"/>
              </a:ext>
            </a:extLst>
          </p:cNvPr>
          <p:cNvSpPr/>
          <p:nvPr/>
        </p:nvSpPr>
        <p:spPr>
          <a:xfrm>
            <a:off x="440952" y="1783145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5" name="Text 6">
            <a:extLst>
              <a:ext uri="{FF2B5EF4-FFF2-40B4-BE49-F238E27FC236}">
                <a16:creationId xmlns:a16="http://schemas.microsoft.com/office/drawing/2014/main" id="{A511904C-0C7F-A253-5C68-A22A48447F54}"/>
              </a:ext>
            </a:extLst>
          </p:cNvPr>
          <p:cNvSpPr/>
          <p:nvPr/>
        </p:nvSpPr>
        <p:spPr>
          <a:xfrm>
            <a:off x="440952" y="1783145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 · Developer</a:t>
            </a:r>
            <a:endParaRPr lang="en-US" sz="1000" dirty="0"/>
          </a:p>
        </p:txBody>
      </p:sp>
      <p:sp>
        <p:nvSpPr>
          <p:cNvPr id="76" name="Shape 7">
            <a:extLst>
              <a:ext uri="{FF2B5EF4-FFF2-40B4-BE49-F238E27FC236}">
                <a16:creationId xmlns:a16="http://schemas.microsoft.com/office/drawing/2014/main" id="{3AD0DEFD-A179-91D3-42C9-E0558FAB8179}"/>
              </a:ext>
            </a:extLst>
          </p:cNvPr>
          <p:cNvSpPr/>
          <p:nvPr/>
        </p:nvSpPr>
        <p:spPr>
          <a:xfrm>
            <a:off x="2544072" y="1993457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7" name="Shape 8">
            <a:extLst>
              <a:ext uri="{FF2B5EF4-FFF2-40B4-BE49-F238E27FC236}">
                <a16:creationId xmlns:a16="http://schemas.microsoft.com/office/drawing/2014/main" id="{A121BED5-98E4-B6A2-604E-38092BFD3196}"/>
              </a:ext>
            </a:extLst>
          </p:cNvPr>
          <p:cNvSpPr/>
          <p:nvPr/>
        </p:nvSpPr>
        <p:spPr>
          <a:xfrm>
            <a:off x="2800105" y="1783145"/>
            <a:ext cx="2561673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8" name="Shape 9">
            <a:extLst>
              <a:ext uri="{FF2B5EF4-FFF2-40B4-BE49-F238E27FC236}">
                <a16:creationId xmlns:a16="http://schemas.microsoft.com/office/drawing/2014/main" id="{D9C023F0-CFC9-D7DC-5903-C36F0218D818}"/>
              </a:ext>
            </a:extLst>
          </p:cNvPr>
          <p:cNvSpPr/>
          <p:nvPr/>
        </p:nvSpPr>
        <p:spPr>
          <a:xfrm>
            <a:off x="2800104" y="1783145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420BA233-13F4-37A1-2275-50091543F4AA}"/>
              </a:ext>
            </a:extLst>
          </p:cNvPr>
          <p:cNvSpPr/>
          <p:nvPr/>
        </p:nvSpPr>
        <p:spPr>
          <a:xfrm>
            <a:off x="1437649" y="2271389"/>
            <a:ext cx="45719" cy="568483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1" name="Shape 12">
            <a:extLst>
              <a:ext uri="{FF2B5EF4-FFF2-40B4-BE49-F238E27FC236}">
                <a16:creationId xmlns:a16="http://schemas.microsoft.com/office/drawing/2014/main" id="{271ED121-63BF-7A28-8FF5-E31907BE6C55}"/>
              </a:ext>
            </a:extLst>
          </p:cNvPr>
          <p:cNvSpPr/>
          <p:nvPr/>
        </p:nvSpPr>
        <p:spPr>
          <a:xfrm>
            <a:off x="440952" y="2839873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2" name="Text 13">
            <a:extLst>
              <a:ext uri="{FF2B5EF4-FFF2-40B4-BE49-F238E27FC236}">
                <a16:creationId xmlns:a16="http://schemas.microsoft.com/office/drawing/2014/main" id="{36EEF743-6C3F-B2F6-4A8E-9CD2E328F33C}"/>
              </a:ext>
            </a:extLst>
          </p:cNvPr>
          <p:cNvSpPr/>
          <p:nvPr/>
        </p:nvSpPr>
        <p:spPr>
          <a:xfrm>
            <a:off x="440952" y="2839873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 · Developer</a:t>
            </a:r>
            <a:endParaRPr lang="en-US" sz="1000" dirty="0"/>
          </a:p>
        </p:txBody>
      </p:sp>
      <p:sp>
        <p:nvSpPr>
          <p:cNvPr id="83" name="Shape 14">
            <a:extLst>
              <a:ext uri="{FF2B5EF4-FFF2-40B4-BE49-F238E27FC236}">
                <a16:creationId xmlns:a16="http://schemas.microsoft.com/office/drawing/2014/main" id="{513A2822-CEE1-4206-E64B-842521504F3C}"/>
              </a:ext>
            </a:extLst>
          </p:cNvPr>
          <p:cNvSpPr/>
          <p:nvPr/>
        </p:nvSpPr>
        <p:spPr>
          <a:xfrm>
            <a:off x="2544072" y="3050185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4" name="Shape 15">
            <a:extLst>
              <a:ext uri="{FF2B5EF4-FFF2-40B4-BE49-F238E27FC236}">
                <a16:creationId xmlns:a16="http://schemas.microsoft.com/office/drawing/2014/main" id="{59898478-688D-180C-590E-77A9CCEF1507}"/>
              </a:ext>
            </a:extLst>
          </p:cNvPr>
          <p:cNvSpPr/>
          <p:nvPr/>
        </p:nvSpPr>
        <p:spPr>
          <a:xfrm>
            <a:off x="2800105" y="2839873"/>
            <a:ext cx="2561674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5" name="Shape 16">
            <a:extLst>
              <a:ext uri="{FF2B5EF4-FFF2-40B4-BE49-F238E27FC236}">
                <a16:creationId xmlns:a16="http://schemas.microsoft.com/office/drawing/2014/main" id="{1B1E2308-FD76-B406-BDA6-62AA30E362C9}"/>
              </a:ext>
            </a:extLst>
          </p:cNvPr>
          <p:cNvSpPr/>
          <p:nvPr/>
        </p:nvSpPr>
        <p:spPr>
          <a:xfrm>
            <a:off x="2800104" y="2839873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9" name="Text 10">
            <a:extLst>
              <a:ext uri="{FF2B5EF4-FFF2-40B4-BE49-F238E27FC236}">
                <a16:creationId xmlns:a16="http://schemas.microsoft.com/office/drawing/2014/main" id="{346C182B-445F-CBF2-C4F2-89FADA887526}"/>
              </a:ext>
            </a:extLst>
          </p:cNvPr>
          <p:cNvSpPr/>
          <p:nvPr/>
        </p:nvSpPr>
        <p:spPr>
          <a:xfrm>
            <a:off x="3011772" y="2867988"/>
            <a:ext cx="2103120" cy="184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158" name="Text 10">
            <a:extLst>
              <a:ext uri="{FF2B5EF4-FFF2-40B4-BE49-F238E27FC236}">
                <a16:creationId xmlns:a16="http://schemas.microsoft.com/office/drawing/2014/main" id="{B4419BFD-8A43-2D34-398F-74C1FFD4AB40}"/>
              </a:ext>
            </a:extLst>
          </p:cNvPr>
          <p:cNvSpPr/>
          <p:nvPr/>
        </p:nvSpPr>
        <p:spPr>
          <a:xfrm>
            <a:off x="2972631" y="1780378"/>
            <a:ext cx="160730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Development:</a:t>
            </a:r>
            <a:endParaRPr lang="en-US" sz="1100" dirty="0"/>
          </a:p>
        </p:txBody>
      </p:sp>
      <p:sp>
        <p:nvSpPr>
          <p:cNvPr id="164" name="Text 27">
            <a:extLst>
              <a:ext uri="{FF2B5EF4-FFF2-40B4-BE49-F238E27FC236}">
                <a16:creationId xmlns:a16="http://schemas.microsoft.com/office/drawing/2014/main" id="{1D7B88A2-5765-449C-408C-62A10CE1C198}"/>
              </a:ext>
            </a:extLst>
          </p:cNvPr>
          <p:cNvSpPr/>
          <p:nvPr/>
        </p:nvSpPr>
        <p:spPr>
          <a:xfrm>
            <a:off x="7985456" y="2478830"/>
            <a:ext cx="876062" cy="898269"/>
          </a:xfrm>
          <a:prstGeom prst="rect">
            <a:avLst/>
          </a:prstGeom>
          <a:solidFill>
            <a:srgbClr val="333F50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65" name="Text 27">
            <a:extLst>
              <a:ext uri="{FF2B5EF4-FFF2-40B4-BE49-F238E27FC236}">
                <a16:creationId xmlns:a16="http://schemas.microsoft.com/office/drawing/2014/main" id="{E052F827-4058-AAC5-B58B-C2D43FA25E5D}"/>
              </a:ext>
            </a:extLst>
          </p:cNvPr>
          <p:cNvSpPr/>
          <p:nvPr/>
        </p:nvSpPr>
        <p:spPr>
          <a:xfrm>
            <a:off x="6337774" y="1783145"/>
            <a:ext cx="879317" cy="1562493"/>
          </a:xfrm>
          <a:prstGeom prst="rect">
            <a:avLst/>
          </a:prstGeom>
          <a:solidFill>
            <a:srgbClr val="1A395C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67" name="Text 8">
            <a:extLst>
              <a:ext uri="{FF2B5EF4-FFF2-40B4-BE49-F238E27FC236}">
                <a16:creationId xmlns:a16="http://schemas.microsoft.com/office/drawing/2014/main" id="{11831E8F-A8EC-2CAA-EA45-82E9CB048F52}"/>
              </a:ext>
            </a:extLst>
          </p:cNvPr>
          <p:cNvSpPr/>
          <p:nvPr/>
        </p:nvSpPr>
        <p:spPr>
          <a:xfrm>
            <a:off x="8363949" y="2868931"/>
            <a:ext cx="3733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</a:t>
            </a:r>
            <a:endParaRPr lang="en-US" sz="700" dirty="0">
              <a:solidFill>
                <a:schemeClr val="bg1"/>
              </a:solidFill>
            </a:endParaRPr>
          </a:p>
        </p:txBody>
      </p:sp>
      <p:pic>
        <p:nvPicPr>
          <p:cNvPr id="170" name="Image 0" descr="preencoded.png">
            <a:extLst>
              <a:ext uri="{FF2B5EF4-FFF2-40B4-BE49-F238E27FC236}">
                <a16:creationId xmlns:a16="http://schemas.microsoft.com/office/drawing/2014/main" id="{D54E68E0-1AC9-9D8F-5FCC-8D5A40F99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0685" y="2890992"/>
            <a:ext cx="180000" cy="180000"/>
          </a:xfrm>
          <a:prstGeom prst="rect">
            <a:avLst/>
          </a:prstGeom>
        </p:spPr>
      </p:pic>
      <p:sp>
        <p:nvSpPr>
          <p:cNvPr id="173" name="Right Arrow 172">
            <a:extLst>
              <a:ext uri="{FF2B5EF4-FFF2-40B4-BE49-F238E27FC236}">
                <a16:creationId xmlns:a16="http://schemas.microsoft.com/office/drawing/2014/main" id="{B57B5B97-2CF9-1458-0162-FEFEB36CB1F1}"/>
              </a:ext>
            </a:extLst>
          </p:cNvPr>
          <p:cNvSpPr/>
          <p:nvPr/>
        </p:nvSpPr>
        <p:spPr>
          <a:xfrm>
            <a:off x="5450059" y="2472150"/>
            <a:ext cx="198797" cy="250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182" name="Text 16">
            <a:extLst>
              <a:ext uri="{FF2B5EF4-FFF2-40B4-BE49-F238E27FC236}">
                <a16:creationId xmlns:a16="http://schemas.microsoft.com/office/drawing/2014/main" id="{0C22BE90-520A-C811-2C44-B4330C8305D1}"/>
              </a:ext>
            </a:extLst>
          </p:cNvPr>
          <p:cNvSpPr/>
          <p:nvPr/>
        </p:nvSpPr>
        <p:spPr>
          <a:xfrm>
            <a:off x="6680418" y="2582198"/>
            <a:ext cx="455978" cy="518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Font typeface="Wingdings" pitchFamily="2" charset="2"/>
              <a:buChar char="ü"/>
            </a:pPr>
            <a:r>
              <a:rPr lang="en-US" sz="700" b="1" dirty="0" err="1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Proyect</a:t>
            </a:r>
            <a:endParaRPr lang="en-US" sz="700" b="1" dirty="0">
              <a:solidFill>
                <a:schemeClr val="bg1"/>
              </a:solidFill>
              <a:latin typeface="Calibri" pitchFamily="34" charset="0"/>
              <a:cs typeface="Calibri" pitchFamily="34" charset="-12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en-US" sz="7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Test</a:t>
            </a:r>
          </a:p>
        </p:txBody>
      </p:sp>
      <p:pic>
        <p:nvPicPr>
          <p:cNvPr id="183" name="Image 7" descr="preencoded.png">
            <a:extLst>
              <a:ext uri="{FF2B5EF4-FFF2-40B4-BE49-F238E27FC236}">
                <a16:creationId xmlns:a16="http://schemas.microsoft.com/office/drawing/2014/main" id="{83E636A1-9484-EE6E-0ED6-DE9672771338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6381094" y="2710762"/>
            <a:ext cx="233743" cy="233743"/>
          </a:xfrm>
          <a:prstGeom prst="rect">
            <a:avLst/>
          </a:prstGeom>
        </p:spPr>
      </p:pic>
      <p:sp>
        <p:nvSpPr>
          <p:cNvPr id="4" name="Text 27">
            <a:extLst>
              <a:ext uri="{FF2B5EF4-FFF2-40B4-BE49-F238E27FC236}">
                <a16:creationId xmlns:a16="http://schemas.microsoft.com/office/drawing/2014/main" id="{7AADC392-6540-6433-4CA6-A154BBB5E592}"/>
              </a:ext>
            </a:extLst>
          </p:cNvPr>
          <p:cNvSpPr/>
          <p:nvPr/>
        </p:nvSpPr>
        <p:spPr>
          <a:xfrm>
            <a:off x="7295691" y="2487337"/>
            <a:ext cx="598590" cy="858301"/>
          </a:xfrm>
          <a:prstGeom prst="rect">
            <a:avLst/>
          </a:prstGeom>
          <a:solidFill>
            <a:srgbClr val="1D5EA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</a:t>
            </a:r>
          </a:p>
          <a:p>
            <a:pPr algn="ctr"/>
            <a:r>
              <a:rPr lang="en-US" sz="8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CD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97C47-E1EE-1E54-22D1-55EB16FF5E4D}"/>
              </a:ext>
            </a:extLst>
          </p:cNvPr>
          <p:cNvSpPr txBox="1"/>
          <p:nvPr/>
        </p:nvSpPr>
        <p:spPr>
          <a:xfrm>
            <a:off x="6289034" y="2225837"/>
            <a:ext cx="9716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Repository</a:t>
            </a:r>
            <a:endParaRPr lang="en-US" sz="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433861-EF24-DB6D-39EB-2DCA39718989}"/>
              </a:ext>
            </a:extLst>
          </p:cNvPr>
          <p:cNvSpPr txBox="1"/>
          <p:nvPr/>
        </p:nvSpPr>
        <p:spPr>
          <a:xfrm>
            <a:off x="8233639" y="2571155"/>
            <a:ext cx="50534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CO" sz="1000" dirty="0"/>
          </a:p>
        </p:txBody>
      </p:sp>
      <p:sp>
        <p:nvSpPr>
          <p:cNvPr id="17" name="Text 27">
            <a:extLst>
              <a:ext uri="{FF2B5EF4-FFF2-40B4-BE49-F238E27FC236}">
                <a16:creationId xmlns:a16="http://schemas.microsoft.com/office/drawing/2014/main" id="{DFD11021-DBDF-CE97-4524-2DE669D7D584}"/>
              </a:ext>
            </a:extLst>
          </p:cNvPr>
          <p:cNvSpPr/>
          <p:nvPr/>
        </p:nvSpPr>
        <p:spPr>
          <a:xfrm>
            <a:off x="5671581" y="1783146"/>
            <a:ext cx="598590" cy="1547306"/>
          </a:xfrm>
          <a:prstGeom prst="rect">
            <a:avLst/>
          </a:prstGeom>
          <a:solidFill>
            <a:srgbClr val="1D5EA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</a:t>
            </a:r>
          </a:p>
          <a:p>
            <a:pPr algn="ctr"/>
            <a:r>
              <a:rPr lang="en-US" sz="800" b="1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CI</a:t>
            </a: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11B55FFF-4FF1-C883-BA04-B6CBFA0AF700}"/>
              </a:ext>
            </a:extLst>
          </p:cNvPr>
          <p:cNvSpPr/>
          <p:nvPr/>
        </p:nvSpPr>
        <p:spPr>
          <a:xfrm>
            <a:off x="2964695" y="1992248"/>
            <a:ext cx="16554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Clr>
                <a:srgbClr val="333F50"/>
              </a:buClr>
              <a:buFont typeface="Arial" panose="020B0604020202020204" pitchFamily="34" charset="0"/>
              <a:buChar char="•"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lambda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Python</a:t>
            </a:r>
          </a:p>
          <a:p>
            <a:pPr marL="171450" indent="-171450">
              <a:buClr>
                <a:srgbClr val="333F50"/>
              </a:buClr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Unit Test</a:t>
            </a:r>
            <a:endParaRPr lang="en-US" sz="950" dirty="0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D0C4FC17-6923-F8D6-1730-FDF86A6368D1}"/>
              </a:ext>
            </a:extLst>
          </p:cNvPr>
          <p:cNvSpPr/>
          <p:nvPr/>
        </p:nvSpPr>
        <p:spPr>
          <a:xfrm>
            <a:off x="3011772" y="3085268"/>
            <a:ext cx="16554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buClr>
                <a:srgbClr val="333F50"/>
              </a:buClr>
              <a:buFont typeface="Arial" panose="020B0604020202020204" pitchFamily="34" charset="0"/>
              <a:buChar char="•"/>
            </a:pP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lambda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Python</a:t>
            </a:r>
          </a:p>
          <a:p>
            <a:pPr marL="171450" indent="-171450">
              <a:buClr>
                <a:srgbClr val="333F50"/>
              </a:buClr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Unit Test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890522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F95F1C-995A-230B-9D02-326BC3B31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DF7EE0-C2E5-A38E-CA0A-F29F393198E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B1B3DD-CDD5-164D-4017-049767E52F18}"/>
              </a:ext>
            </a:extLst>
          </p:cNvPr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A53BE6-7CF2-8100-FD5D-D33D4D5913F3}"/>
              </a:ext>
            </a:extLst>
          </p:cNvPr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GitHub Actions · flujo GitOps end-to-end</a:t>
            </a:r>
            <a:endParaRPr lang="en-US" sz="1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4155953-8719-9A85-364F-8D17B1D0E45B}"/>
              </a:ext>
            </a:extLst>
          </p:cNvPr>
          <p:cNvSpPr/>
          <p:nvPr/>
        </p:nvSpPr>
        <p:spPr>
          <a:xfrm>
            <a:off x="0" y="658368"/>
            <a:ext cx="914400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4387DA7-DD21-C06E-EC69-B86E58B6C5A8}"/>
              </a:ext>
            </a:extLst>
          </p:cNvPr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86971CA-D044-5F0E-7C9A-59BBF01F6A4B}"/>
              </a:ext>
            </a:extLst>
          </p:cNvPr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grpSp>
        <p:nvGrpSpPr>
          <p:cNvPr id="32" name="Graphic 29">
            <a:extLst>
              <a:ext uri="{FF2B5EF4-FFF2-40B4-BE49-F238E27FC236}">
                <a16:creationId xmlns:a16="http://schemas.microsoft.com/office/drawing/2014/main" id="{A9892AC0-3A04-8C58-C79E-7599B56FB7E4}"/>
              </a:ext>
            </a:extLst>
          </p:cNvPr>
          <p:cNvGrpSpPr/>
          <p:nvPr/>
        </p:nvGrpSpPr>
        <p:grpSpPr>
          <a:xfrm>
            <a:off x="1524000" y="2433828"/>
            <a:ext cx="1048658" cy="533400"/>
            <a:chOff x="1524000" y="2433828"/>
            <a:chExt cx="1048658" cy="533400"/>
          </a:xfrm>
        </p:grpSpPr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BBD52BE8-75EF-2B8A-F66C-E5FC0F4AE634}"/>
                </a:ext>
              </a:extLst>
            </p:cNvPr>
            <p:cNvSpPr/>
            <p:nvPr/>
          </p:nvSpPr>
          <p:spPr>
            <a:xfrm>
              <a:off x="1524000" y="2433828"/>
              <a:ext cx="1047750" cy="533400"/>
            </a:xfrm>
            <a:custGeom>
              <a:avLst/>
              <a:gdLst>
                <a:gd name="csX0" fmla="*/ 971550 w 1047750"/>
                <a:gd name="csY0" fmla="*/ 0 h 533400"/>
                <a:gd name="csX1" fmla="*/ 1047750 w 1047750"/>
                <a:gd name="csY1" fmla="*/ 0 h 533400"/>
                <a:gd name="csX2" fmla="*/ 1047750 w 1047750"/>
                <a:gd name="csY2" fmla="*/ 533400 h 533400"/>
                <a:gd name="csX3" fmla="*/ 971550 w 1047750"/>
                <a:gd name="csY3" fmla="*/ 533400 h 533400"/>
                <a:gd name="csX4" fmla="*/ 76200 w 1047750"/>
                <a:gd name="csY4" fmla="*/ 533400 h 533400"/>
                <a:gd name="csX5" fmla="*/ 0 w 1047750"/>
                <a:gd name="csY5" fmla="*/ 533400 h 533400"/>
                <a:gd name="csX6" fmla="*/ 0 w 1047750"/>
                <a:gd name="csY6" fmla="*/ 0 h 533400"/>
                <a:gd name="csX7" fmla="*/ 76200 w 1047750"/>
                <a:gd name="csY7" fmla="*/ 0 h 533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47750" h="533400">
                  <a:moveTo>
                    <a:pt x="971550" y="0"/>
                  </a:moveTo>
                  <a:cubicBezTo>
                    <a:pt x="1013634" y="0"/>
                    <a:pt x="1047750" y="0"/>
                    <a:pt x="1047750" y="0"/>
                  </a:cubicBezTo>
                  <a:lnTo>
                    <a:pt x="1047750" y="533400"/>
                  </a:lnTo>
                  <a:cubicBezTo>
                    <a:pt x="1047750" y="533400"/>
                    <a:pt x="1013634" y="533400"/>
                    <a:pt x="971550" y="533400"/>
                  </a:cubicBezTo>
                  <a:lnTo>
                    <a:pt x="76200" y="533400"/>
                  </a:lnTo>
                  <a:cubicBezTo>
                    <a:pt x="34116" y="533400"/>
                    <a:pt x="0" y="533400"/>
                    <a:pt x="0" y="533400"/>
                  </a:cubicBezTo>
                  <a:lnTo>
                    <a:pt x="0" y="0"/>
                  </a:lnTo>
                  <a:cubicBezTo>
                    <a:pt x="0" y="0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3C3489"/>
            </a:solidFill>
            <a:ln w="4763" cap="flat">
              <a:solidFill>
                <a:srgbClr val="AFA9EC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0E6F573-50E2-48C7-EBE8-A43A3C5E6E20}"/>
                </a:ext>
              </a:extLst>
            </p:cNvPr>
            <p:cNvSpPr txBox="1"/>
            <p:nvPr/>
          </p:nvSpPr>
          <p:spPr>
            <a:xfrm>
              <a:off x="1581681" y="2434709"/>
              <a:ext cx="99097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 dirty="0">
                  <a:ln/>
                  <a:solidFill>
                    <a:srgbClr val="CECBF6"/>
                  </a:solidFill>
                  <a:latin typeface="Segoe UI"/>
                  <a:cs typeface="Segoe UI"/>
                  <a:sym typeface="Segoe UI"/>
                  <a:rtl val="0"/>
                </a:rPr>
                <a:t>Devs/DevOps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6DF614-7E6B-1EE3-D430-E840DA042EBD}"/>
                </a:ext>
              </a:extLst>
            </p:cNvPr>
            <p:cNvSpPr txBox="1"/>
            <p:nvPr/>
          </p:nvSpPr>
          <p:spPr>
            <a:xfrm>
              <a:off x="1558868" y="2645766"/>
              <a:ext cx="978012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AFA9EC"/>
                  </a:solidFill>
                  <a:latin typeface="Segoe UI"/>
                  <a:cs typeface="Segoe UI"/>
                  <a:sym typeface="Segoe UI"/>
                  <a:rtl val="0"/>
                </a:rPr>
                <a:t>llena formulario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BF265722-777D-D924-FFE9-DA9FB7D5EBAE}"/>
              </a:ext>
            </a:extLst>
          </p:cNvPr>
          <p:cNvSpPr/>
          <p:nvPr/>
        </p:nvSpPr>
        <p:spPr>
          <a:xfrm>
            <a:off x="2571750" y="2700528"/>
            <a:ext cx="266700" cy="9525"/>
          </a:xfrm>
          <a:custGeom>
            <a:avLst/>
            <a:gdLst>
              <a:gd name="csX0" fmla="*/ 0 w 266700"/>
              <a:gd name="csY0" fmla="*/ 0 h 9525"/>
              <a:gd name="csX1" fmla="*/ 266700 w 266700"/>
              <a:gd name="csY1" fmla="*/ 0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ln w="14288" cap="flat">
            <a:solidFill>
              <a:srgbClr val="9C9A92"/>
            </a:solidFill>
            <a:prstDash val="solid"/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81F3D040-A865-AB4A-37DA-0299903B2B78}"/>
              </a:ext>
            </a:extLst>
          </p:cNvPr>
          <p:cNvSpPr/>
          <p:nvPr/>
        </p:nvSpPr>
        <p:spPr>
          <a:xfrm>
            <a:off x="2857500" y="1005078"/>
            <a:ext cx="2286000" cy="3429000"/>
          </a:xfrm>
          <a:custGeom>
            <a:avLst/>
            <a:gdLst>
              <a:gd name="csX0" fmla="*/ 2152650 w 2286000"/>
              <a:gd name="csY0" fmla="*/ 0 h 3429000"/>
              <a:gd name="csX1" fmla="*/ 2286000 w 2286000"/>
              <a:gd name="csY1" fmla="*/ 0 h 3429000"/>
              <a:gd name="csX2" fmla="*/ 2286000 w 2286000"/>
              <a:gd name="csY2" fmla="*/ 3429000 h 3429000"/>
              <a:gd name="csX3" fmla="*/ 2152650 w 2286000"/>
              <a:gd name="csY3" fmla="*/ 3429000 h 3429000"/>
              <a:gd name="csX4" fmla="*/ 133350 w 2286000"/>
              <a:gd name="csY4" fmla="*/ 3429000 h 3429000"/>
              <a:gd name="csX5" fmla="*/ 0 w 2286000"/>
              <a:gd name="csY5" fmla="*/ 3429000 h 3429000"/>
              <a:gd name="csX6" fmla="*/ 0 w 2286000"/>
              <a:gd name="csY6" fmla="*/ 0 h 3429000"/>
              <a:gd name="csX7" fmla="*/ 133350 w 2286000"/>
              <a:gd name="csY7" fmla="*/ 0 h 3429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286000" h="3429000">
                <a:moveTo>
                  <a:pt x="2152650" y="0"/>
                </a:moveTo>
                <a:cubicBezTo>
                  <a:pt x="2226297" y="0"/>
                  <a:pt x="2286000" y="0"/>
                  <a:pt x="2286000" y="0"/>
                </a:cubicBezTo>
                <a:lnTo>
                  <a:pt x="2286000" y="3429000"/>
                </a:lnTo>
                <a:cubicBezTo>
                  <a:pt x="2286000" y="3429000"/>
                  <a:pt x="2226297" y="3429000"/>
                  <a:pt x="2152650" y="3429000"/>
                </a:cubicBezTo>
                <a:lnTo>
                  <a:pt x="133350" y="3429000"/>
                </a:lnTo>
                <a:cubicBezTo>
                  <a:pt x="59703" y="3429000"/>
                  <a:pt x="0" y="3429000"/>
                  <a:pt x="0" y="3429000"/>
                </a:cubicBezTo>
                <a:lnTo>
                  <a:pt x="0" y="0"/>
                </a:lnTo>
                <a:cubicBezTo>
                  <a:pt x="0" y="0"/>
                  <a:pt x="59703" y="0"/>
                  <a:pt x="133350" y="0"/>
                </a:cubicBezTo>
                <a:close/>
              </a:path>
            </a:pathLst>
          </a:custGeom>
          <a:noFill/>
          <a:ln w="4763" cap="flat">
            <a:solidFill>
              <a:srgbClr val="DEDCD1"/>
            </a:solidFill>
            <a:custDash>
              <a:ds d="375000" sp="300000"/>
            </a:custDash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935746-AF3D-85F1-C367-8B470A1DA44E}"/>
              </a:ext>
            </a:extLst>
          </p:cNvPr>
          <p:cNvSpPr txBox="1"/>
          <p:nvPr/>
        </p:nvSpPr>
        <p:spPr>
          <a:xfrm>
            <a:off x="3703509" y="759816"/>
            <a:ext cx="593980" cy="243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O" sz="900" spc="0" baseline="0">
                <a:ln/>
                <a:solidFill>
                  <a:srgbClr val="C2C0B6"/>
                </a:solidFill>
                <a:latin typeface="Segoe UI"/>
                <a:cs typeface="Segoe UI"/>
                <a:sym typeface="Segoe UI"/>
                <a:rtl val="0"/>
              </a:rPr>
              <a:t>Port IDP</a:t>
            </a:r>
          </a:p>
        </p:txBody>
      </p:sp>
      <p:grpSp>
        <p:nvGrpSpPr>
          <p:cNvPr id="39" name="Graphic 29">
            <a:extLst>
              <a:ext uri="{FF2B5EF4-FFF2-40B4-BE49-F238E27FC236}">
                <a16:creationId xmlns:a16="http://schemas.microsoft.com/office/drawing/2014/main" id="{E22A0631-7BF1-DC35-4B4D-0520E69AC5E6}"/>
              </a:ext>
            </a:extLst>
          </p:cNvPr>
          <p:cNvGrpSpPr/>
          <p:nvPr/>
        </p:nvGrpSpPr>
        <p:grpSpPr>
          <a:xfrm>
            <a:off x="3000375" y="1195578"/>
            <a:ext cx="2000250" cy="419100"/>
            <a:chOff x="3000375" y="1195578"/>
            <a:chExt cx="2000250" cy="419100"/>
          </a:xfrm>
        </p:grpSpPr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5156B8E5-0672-6FD6-BAD3-01F01E9685AF}"/>
                </a:ext>
              </a:extLst>
            </p:cNvPr>
            <p:cNvSpPr/>
            <p:nvPr/>
          </p:nvSpPr>
          <p:spPr>
            <a:xfrm>
              <a:off x="3000375" y="119557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04BF540-D216-61F0-48CC-CBFEDB742A5E}"/>
                </a:ext>
              </a:extLst>
            </p:cNvPr>
            <p:cNvSpPr txBox="1"/>
            <p:nvPr/>
          </p:nvSpPr>
          <p:spPr>
            <a:xfrm>
              <a:off x="3222092" y="1177409"/>
              <a:ext cx="1556814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Blueprint AWSResource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C4BF7B3-5523-D693-3075-C011B56A7789}"/>
                </a:ext>
              </a:extLst>
            </p:cNvPr>
            <p:cNvSpPr txBox="1"/>
            <p:nvPr/>
          </p:nvSpPr>
          <p:spPr>
            <a:xfrm>
              <a:off x="3232552" y="1350366"/>
              <a:ext cx="1535895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VPC · DynamoDB · Lambda</a:t>
              </a:r>
            </a:p>
          </p:txBody>
        </p:sp>
      </p:grpSp>
      <p:grpSp>
        <p:nvGrpSpPr>
          <p:cNvPr id="45" name="Graphic 29">
            <a:extLst>
              <a:ext uri="{FF2B5EF4-FFF2-40B4-BE49-F238E27FC236}">
                <a16:creationId xmlns:a16="http://schemas.microsoft.com/office/drawing/2014/main" id="{14ECE6FB-C201-D911-AB67-F889550D5864}"/>
              </a:ext>
            </a:extLst>
          </p:cNvPr>
          <p:cNvGrpSpPr/>
          <p:nvPr/>
        </p:nvGrpSpPr>
        <p:grpSpPr>
          <a:xfrm>
            <a:off x="3000375" y="1786128"/>
            <a:ext cx="2000250" cy="419100"/>
            <a:chOff x="3000375" y="1786128"/>
            <a:chExt cx="2000250" cy="419100"/>
          </a:xfrm>
        </p:grpSpPr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9321F04-B0EB-2C84-861A-A5267B3EF260}"/>
                </a:ext>
              </a:extLst>
            </p:cNvPr>
            <p:cNvSpPr/>
            <p:nvPr/>
          </p:nvSpPr>
          <p:spPr>
            <a:xfrm>
              <a:off x="3000375" y="178612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FEF09A0-2AEB-D5E7-54F0-2E64DFF2B354}"/>
                </a:ext>
              </a:extLst>
            </p:cNvPr>
            <p:cNvSpPr txBox="1"/>
            <p:nvPr/>
          </p:nvSpPr>
          <p:spPr>
            <a:xfrm>
              <a:off x="3376473" y="1767959"/>
              <a:ext cx="1248052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Self-service action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472DF35-A585-0B55-9E16-2E1C906E7117}"/>
                </a:ext>
              </a:extLst>
            </p:cNvPr>
            <p:cNvSpPr txBox="1"/>
            <p:nvPr/>
          </p:nvSpPr>
          <p:spPr>
            <a:xfrm>
              <a:off x="3188099" y="1940916"/>
              <a:ext cx="1624801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Formulario de variables AWS</a:t>
              </a:r>
            </a:p>
          </p:txBody>
        </p:sp>
      </p:grpSp>
      <p:grpSp>
        <p:nvGrpSpPr>
          <p:cNvPr id="49" name="Graphic 29">
            <a:extLst>
              <a:ext uri="{FF2B5EF4-FFF2-40B4-BE49-F238E27FC236}">
                <a16:creationId xmlns:a16="http://schemas.microsoft.com/office/drawing/2014/main" id="{272E46F2-8661-36A2-6C20-EB3A904F10D0}"/>
              </a:ext>
            </a:extLst>
          </p:cNvPr>
          <p:cNvGrpSpPr/>
          <p:nvPr/>
        </p:nvGrpSpPr>
        <p:grpSpPr>
          <a:xfrm>
            <a:off x="3000375" y="2376678"/>
            <a:ext cx="2000250" cy="419100"/>
            <a:chOff x="3000375" y="2376678"/>
            <a:chExt cx="2000250" cy="419100"/>
          </a:xfrm>
        </p:grpSpPr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FF60D96-8034-EFA1-12BD-71A842DCCE43}"/>
                </a:ext>
              </a:extLst>
            </p:cNvPr>
            <p:cNvSpPr/>
            <p:nvPr/>
          </p:nvSpPr>
          <p:spPr>
            <a:xfrm>
              <a:off x="3000375" y="237667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60E4C3F-E6D4-1022-9141-FD8503C6DA42}"/>
                </a:ext>
              </a:extLst>
            </p:cNvPr>
            <p:cNvSpPr txBox="1"/>
            <p:nvPr/>
          </p:nvSpPr>
          <p:spPr>
            <a:xfrm>
              <a:off x="3251653" y="2358509"/>
              <a:ext cx="1497692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Invoke GitHub Actions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EAB930D-A8AF-C5A8-6566-8C10648A3F26}"/>
                </a:ext>
              </a:extLst>
            </p:cNvPr>
            <p:cNvSpPr txBox="1"/>
            <p:nvPr/>
          </p:nvSpPr>
          <p:spPr>
            <a:xfrm>
              <a:off x="3217092" y="2531466"/>
              <a:ext cx="1566814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workflow_dispatch + inputs</a:t>
              </a:r>
            </a:p>
          </p:txBody>
        </p:sp>
      </p:grpSp>
      <p:grpSp>
        <p:nvGrpSpPr>
          <p:cNvPr id="53" name="Graphic 29">
            <a:extLst>
              <a:ext uri="{FF2B5EF4-FFF2-40B4-BE49-F238E27FC236}">
                <a16:creationId xmlns:a16="http://schemas.microsoft.com/office/drawing/2014/main" id="{4EE600AC-C360-439A-2668-A1F03CAB20B1}"/>
              </a:ext>
            </a:extLst>
          </p:cNvPr>
          <p:cNvGrpSpPr/>
          <p:nvPr/>
        </p:nvGrpSpPr>
        <p:grpSpPr>
          <a:xfrm>
            <a:off x="3000375" y="2967228"/>
            <a:ext cx="2000250" cy="419100"/>
            <a:chOff x="3000375" y="2967228"/>
            <a:chExt cx="2000250" cy="419100"/>
          </a:xfrm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DDA32DC-2EE9-2831-28F6-EB067393A7E2}"/>
                </a:ext>
              </a:extLst>
            </p:cNvPr>
            <p:cNvSpPr/>
            <p:nvPr/>
          </p:nvSpPr>
          <p:spPr>
            <a:xfrm>
              <a:off x="3000375" y="296722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DD4D181-FE42-2379-9051-8A9B0716E33E}"/>
                </a:ext>
              </a:extLst>
            </p:cNvPr>
            <p:cNvSpPr txBox="1"/>
            <p:nvPr/>
          </p:nvSpPr>
          <p:spPr>
            <a:xfrm>
              <a:off x="3205521" y="2949059"/>
              <a:ext cx="1589956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PATCH_RUN → catálogo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791C5EA-2D66-A826-15F3-FE9C30D6807B}"/>
                </a:ext>
              </a:extLst>
            </p:cNvPr>
            <p:cNvSpPr txBox="1"/>
            <p:nvPr/>
          </p:nvSpPr>
          <p:spPr>
            <a:xfrm>
              <a:off x="3316826" y="3122016"/>
              <a:ext cx="1367347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Registra recurso creado</a:t>
              </a:r>
            </a:p>
          </p:txBody>
        </p:sp>
      </p:grpSp>
      <p:sp>
        <p:nvSpPr>
          <p:cNvPr id="57" name="Freeform 56">
            <a:extLst>
              <a:ext uri="{FF2B5EF4-FFF2-40B4-BE49-F238E27FC236}">
                <a16:creationId xmlns:a16="http://schemas.microsoft.com/office/drawing/2014/main" id="{F39BED96-C773-FEFD-9DCB-B79A127EEEAA}"/>
              </a:ext>
            </a:extLst>
          </p:cNvPr>
          <p:cNvSpPr/>
          <p:nvPr/>
        </p:nvSpPr>
        <p:spPr>
          <a:xfrm>
            <a:off x="5143500" y="2586228"/>
            <a:ext cx="266700" cy="9525"/>
          </a:xfrm>
          <a:custGeom>
            <a:avLst/>
            <a:gdLst>
              <a:gd name="csX0" fmla="*/ 0 w 266700"/>
              <a:gd name="csY0" fmla="*/ 0 h 9525"/>
              <a:gd name="csX1" fmla="*/ 266700 w 266700"/>
              <a:gd name="csY1" fmla="*/ 0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ln w="14288" cap="flat">
            <a:solidFill>
              <a:srgbClr val="9C9A92"/>
            </a:solidFill>
            <a:prstDash val="solid"/>
            <a:miter/>
          </a:ln>
        </p:spPr>
        <p:txBody>
          <a:bodyPr/>
          <a:lstStyle/>
          <a:p>
            <a:endParaRPr lang="en-CO"/>
          </a:p>
        </p:txBody>
      </p:sp>
      <p:grpSp>
        <p:nvGrpSpPr>
          <p:cNvPr id="58" name="Graphic 29">
            <a:extLst>
              <a:ext uri="{FF2B5EF4-FFF2-40B4-BE49-F238E27FC236}">
                <a16:creationId xmlns:a16="http://schemas.microsoft.com/office/drawing/2014/main" id="{6CF8D3DB-2C73-D2C8-79D9-2E6560A9B33D}"/>
              </a:ext>
            </a:extLst>
          </p:cNvPr>
          <p:cNvGrpSpPr/>
          <p:nvPr/>
        </p:nvGrpSpPr>
        <p:grpSpPr>
          <a:xfrm>
            <a:off x="5429250" y="2376678"/>
            <a:ext cx="1047750" cy="419100"/>
            <a:chOff x="5429250" y="2376678"/>
            <a:chExt cx="1047750" cy="419100"/>
          </a:xfrm>
        </p:grpSpPr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7478D608-5004-6DFA-A0EA-839D3BA1C416}"/>
                </a:ext>
              </a:extLst>
            </p:cNvPr>
            <p:cNvSpPr/>
            <p:nvPr/>
          </p:nvSpPr>
          <p:spPr>
            <a:xfrm>
              <a:off x="5429250" y="2376678"/>
              <a:ext cx="1047750" cy="419100"/>
            </a:xfrm>
            <a:custGeom>
              <a:avLst/>
              <a:gdLst>
                <a:gd name="csX0" fmla="*/ 990600 w 1047750"/>
                <a:gd name="csY0" fmla="*/ 0 h 419100"/>
                <a:gd name="csX1" fmla="*/ 1047750 w 1047750"/>
                <a:gd name="csY1" fmla="*/ 0 h 419100"/>
                <a:gd name="csX2" fmla="*/ 1047750 w 1047750"/>
                <a:gd name="csY2" fmla="*/ 419100 h 419100"/>
                <a:gd name="csX3" fmla="*/ 990600 w 1047750"/>
                <a:gd name="csY3" fmla="*/ 419100 h 419100"/>
                <a:gd name="csX4" fmla="*/ 57150 w 1047750"/>
                <a:gd name="csY4" fmla="*/ 419100 h 419100"/>
                <a:gd name="csX5" fmla="*/ 0 w 1047750"/>
                <a:gd name="csY5" fmla="*/ 419100 h 419100"/>
                <a:gd name="csX6" fmla="*/ 0 w 1047750"/>
                <a:gd name="csY6" fmla="*/ 0 h 419100"/>
                <a:gd name="csX7" fmla="*/ 57150 w 10477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47750" h="419100">
                  <a:moveTo>
                    <a:pt x="990600" y="0"/>
                  </a:moveTo>
                  <a:cubicBezTo>
                    <a:pt x="1022163" y="0"/>
                    <a:pt x="1047750" y="0"/>
                    <a:pt x="1047750" y="0"/>
                  </a:cubicBezTo>
                  <a:lnTo>
                    <a:pt x="1047750" y="419100"/>
                  </a:lnTo>
                  <a:cubicBezTo>
                    <a:pt x="1047750" y="419100"/>
                    <a:pt x="1022163" y="419100"/>
                    <a:pt x="9906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444441"/>
            </a:solidFill>
            <a:ln w="4763" cap="flat">
              <a:solidFill>
                <a:srgbClr val="B4B2A9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18AA004-F6A1-8ECA-B38F-606DA9171E34}"/>
                </a:ext>
              </a:extLst>
            </p:cNvPr>
            <p:cNvSpPr txBox="1"/>
            <p:nvPr/>
          </p:nvSpPr>
          <p:spPr>
            <a:xfrm>
              <a:off x="5532705" y="2358509"/>
              <a:ext cx="840839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D3D1C7"/>
                  </a:solidFill>
                  <a:latin typeface="Segoe UI"/>
                  <a:cs typeface="Segoe UI"/>
                  <a:sym typeface="Segoe UI"/>
                  <a:rtl val="0"/>
                </a:rPr>
                <a:t>GH Actions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C47F8F-336A-8CBD-9E76-40600D49A660}"/>
                </a:ext>
              </a:extLst>
            </p:cNvPr>
            <p:cNvSpPr txBox="1"/>
            <p:nvPr/>
          </p:nvSpPr>
          <p:spPr>
            <a:xfrm>
              <a:off x="5429097" y="2531466"/>
              <a:ext cx="1048055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B4B2A9"/>
                  </a:solidFill>
                  <a:latin typeface="Segoe UI"/>
                  <a:cs typeface="Segoe UI"/>
                  <a:sym typeface="Segoe UI"/>
                  <a:rtl val="0"/>
                </a:rPr>
                <a:t>Runs CFN deploy</a:t>
              </a:r>
            </a:p>
          </p:txBody>
        </p:sp>
      </p:grpSp>
      <p:sp>
        <p:nvSpPr>
          <p:cNvPr id="62" name="Freeform 61">
            <a:extLst>
              <a:ext uri="{FF2B5EF4-FFF2-40B4-BE49-F238E27FC236}">
                <a16:creationId xmlns:a16="http://schemas.microsoft.com/office/drawing/2014/main" id="{2989741E-F910-6B8A-9B1E-EEB760DB8806}"/>
              </a:ext>
            </a:extLst>
          </p:cNvPr>
          <p:cNvSpPr/>
          <p:nvPr/>
        </p:nvSpPr>
        <p:spPr>
          <a:xfrm>
            <a:off x="6477000" y="2586228"/>
            <a:ext cx="266700" cy="9525"/>
          </a:xfrm>
          <a:custGeom>
            <a:avLst/>
            <a:gdLst>
              <a:gd name="csX0" fmla="*/ 0 w 266700"/>
              <a:gd name="csY0" fmla="*/ 0 h 9525"/>
              <a:gd name="csX1" fmla="*/ 266700 w 266700"/>
              <a:gd name="csY1" fmla="*/ 0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ln w="14288" cap="flat">
            <a:solidFill>
              <a:srgbClr val="9C9A92"/>
            </a:solidFill>
            <a:prstDash val="solid"/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1B5FE6B6-3975-2DC5-3B07-1C9B7F8273C5}"/>
              </a:ext>
            </a:extLst>
          </p:cNvPr>
          <p:cNvSpPr/>
          <p:nvPr/>
        </p:nvSpPr>
        <p:spPr>
          <a:xfrm>
            <a:off x="6762750" y="1481328"/>
            <a:ext cx="952500" cy="3048000"/>
          </a:xfrm>
          <a:custGeom>
            <a:avLst/>
            <a:gdLst>
              <a:gd name="csX0" fmla="*/ 838200 w 952500"/>
              <a:gd name="csY0" fmla="*/ 0 h 3048000"/>
              <a:gd name="csX1" fmla="*/ 952500 w 952500"/>
              <a:gd name="csY1" fmla="*/ 0 h 3048000"/>
              <a:gd name="csX2" fmla="*/ 952500 w 952500"/>
              <a:gd name="csY2" fmla="*/ 3048000 h 3048000"/>
              <a:gd name="csX3" fmla="*/ 838200 w 952500"/>
              <a:gd name="csY3" fmla="*/ 3048000 h 3048000"/>
              <a:gd name="csX4" fmla="*/ 114300 w 952500"/>
              <a:gd name="csY4" fmla="*/ 3048000 h 3048000"/>
              <a:gd name="csX5" fmla="*/ 0 w 952500"/>
              <a:gd name="csY5" fmla="*/ 3048000 h 3048000"/>
              <a:gd name="csX6" fmla="*/ 0 w 952500"/>
              <a:gd name="csY6" fmla="*/ 0 h 3048000"/>
              <a:gd name="csX7" fmla="*/ 114300 w 952500"/>
              <a:gd name="csY7" fmla="*/ 0 h 304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52500" h="3048000">
                <a:moveTo>
                  <a:pt x="838200" y="0"/>
                </a:moveTo>
                <a:cubicBezTo>
                  <a:pt x="901326" y="0"/>
                  <a:pt x="952500" y="0"/>
                  <a:pt x="952500" y="0"/>
                </a:cubicBezTo>
                <a:lnTo>
                  <a:pt x="952500" y="3048000"/>
                </a:lnTo>
                <a:cubicBezTo>
                  <a:pt x="952500" y="3048000"/>
                  <a:pt x="901326" y="3048000"/>
                  <a:pt x="838200" y="3048000"/>
                </a:cubicBezTo>
                <a:lnTo>
                  <a:pt x="114300" y="3048000"/>
                </a:lnTo>
                <a:cubicBezTo>
                  <a:pt x="51174" y="3048000"/>
                  <a:pt x="0" y="3048000"/>
                  <a:pt x="0" y="3048000"/>
                </a:cubicBezTo>
                <a:lnTo>
                  <a:pt x="0" y="0"/>
                </a:lnTo>
                <a:cubicBezTo>
                  <a:pt x="0" y="0"/>
                  <a:pt x="51174" y="0"/>
                  <a:pt x="114300" y="0"/>
                </a:cubicBezTo>
                <a:close/>
              </a:path>
            </a:pathLst>
          </a:custGeom>
          <a:noFill/>
          <a:ln w="4763" cap="flat">
            <a:solidFill>
              <a:srgbClr val="FF9900"/>
            </a:solidFill>
            <a:custDash>
              <a:ds d="300000" sp="225000"/>
            </a:custDash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7651CC-703E-45BB-7592-F89DED4DCE5C}"/>
              </a:ext>
            </a:extLst>
          </p:cNvPr>
          <p:cNvSpPr txBox="1"/>
          <p:nvPr/>
        </p:nvSpPr>
        <p:spPr>
          <a:xfrm>
            <a:off x="7030860" y="1245591"/>
            <a:ext cx="416279" cy="243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O" sz="900" spc="0" baseline="0">
                <a:ln/>
                <a:solidFill>
                  <a:srgbClr val="C2C0B6"/>
                </a:solidFill>
                <a:latin typeface="Segoe UI"/>
                <a:cs typeface="Segoe UI"/>
                <a:sym typeface="Segoe UI"/>
                <a:rtl val="0"/>
              </a:rPr>
              <a:t>AWS</a:t>
            </a:r>
          </a:p>
        </p:txBody>
      </p:sp>
      <p:grpSp>
        <p:nvGrpSpPr>
          <p:cNvPr id="65" name="Graphic 29">
            <a:extLst>
              <a:ext uri="{FF2B5EF4-FFF2-40B4-BE49-F238E27FC236}">
                <a16:creationId xmlns:a16="http://schemas.microsoft.com/office/drawing/2014/main" id="{B2F53A3F-BE02-0E0E-87BD-FB971B64DBE1}"/>
              </a:ext>
            </a:extLst>
          </p:cNvPr>
          <p:cNvGrpSpPr/>
          <p:nvPr/>
        </p:nvGrpSpPr>
        <p:grpSpPr>
          <a:xfrm>
            <a:off x="6858000" y="1652778"/>
            <a:ext cx="781050" cy="323850"/>
            <a:chOff x="6858000" y="1652778"/>
            <a:chExt cx="781050" cy="323850"/>
          </a:xfrm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D9AC84DB-4F51-26B7-6981-5502D3CD7DCD}"/>
                </a:ext>
              </a:extLst>
            </p:cNvPr>
            <p:cNvSpPr/>
            <p:nvPr/>
          </p:nvSpPr>
          <p:spPr>
            <a:xfrm>
              <a:off x="6858000" y="1652778"/>
              <a:ext cx="781050" cy="323850"/>
            </a:xfrm>
            <a:custGeom>
              <a:avLst/>
              <a:gdLst>
                <a:gd name="csX0" fmla="*/ 723900 w 781050"/>
                <a:gd name="csY0" fmla="*/ 0 h 323850"/>
                <a:gd name="csX1" fmla="*/ 781050 w 781050"/>
                <a:gd name="csY1" fmla="*/ 0 h 323850"/>
                <a:gd name="csX2" fmla="*/ 781050 w 781050"/>
                <a:gd name="csY2" fmla="*/ 323850 h 323850"/>
                <a:gd name="csX3" fmla="*/ 723900 w 781050"/>
                <a:gd name="csY3" fmla="*/ 323850 h 323850"/>
                <a:gd name="csX4" fmla="*/ 57150 w 781050"/>
                <a:gd name="csY4" fmla="*/ 323850 h 323850"/>
                <a:gd name="csX5" fmla="*/ 0 w 781050"/>
                <a:gd name="csY5" fmla="*/ 323850 h 323850"/>
                <a:gd name="csX6" fmla="*/ 0 w 781050"/>
                <a:gd name="csY6" fmla="*/ 0 h 323850"/>
                <a:gd name="csX7" fmla="*/ 57150 w 781050"/>
                <a:gd name="csY7" fmla="*/ 0 h 3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3238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323850"/>
                  </a:lnTo>
                  <a:cubicBezTo>
                    <a:pt x="781050" y="323850"/>
                    <a:pt x="755463" y="323850"/>
                    <a:pt x="723900" y="323850"/>
                  </a:cubicBezTo>
                  <a:lnTo>
                    <a:pt x="57150" y="323850"/>
                  </a:lnTo>
                  <a:cubicBezTo>
                    <a:pt x="25587" y="323850"/>
                    <a:pt x="0" y="323850"/>
                    <a:pt x="0" y="3238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E1FB723-46A0-0CBB-BD22-11D88C09B8F8}"/>
                </a:ext>
              </a:extLst>
            </p:cNvPr>
            <p:cNvSpPr txBox="1"/>
            <p:nvPr/>
          </p:nvSpPr>
          <p:spPr>
            <a:xfrm>
              <a:off x="6906774" y="1645641"/>
              <a:ext cx="683500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VPC Stack</a:t>
              </a:r>
            </a:p>
          </p:txBody>
        </p:sp>
      </p:grpSp>
      <p:grpSp>
        <p:nvGrpSpPr>
          <p:cNvPr id="68" name="Graphic 29">
            <a:extLst>
              <a:ext uri="{FF2B5EF4-FFF2-40B4-BE49-F238E27FC236}">
                <a16:creationId xmlns:a16="http://schemas.microsoft.com/office/drawing/2014/main" id="{C9197D61-C502-5DF1-AE6F-D935B0433ED0}"/>
              </a:ext>
            </a:extLst>
          </p:cNvPr>
          <p:cNvGrpSpPr/>
          <p:nvPr/>
        </p:nvGrpSpPr>
        <p:grpSpPr>
          <a:xfrm>
            <a:off x="6858000" y="2129028"/>
            <a:ext cx="781050" cy="323850"/>
            <a:chOff x="6858000" y="2129028"/>
            <a:chExt cx="781050" cy="323850"/>
          </a:xfrm>
        </p:grpSpPr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4BF79C2-87C1-CEDB-D657-0D2B785A8509}"/>
                </a:ext>
              </a:extLst>
            </p:cNvPr>
            <p:cNvSpPr/>
            <p:nvPr/>
          </p:nvSpPr>
          <p:spPr>
            <a:xfrm>
              <a:off x="6858000" y="2129028"/>
              <a:ext cx="781050" cy="323850"/>
            </a:xfrm>
            <a:custGeom>
              <a:avLst/>
              <a:gdLst>
                <a:gd name="csX0" fmla="*/ 723900 w 781050"/>
                <a:gd name="csY0" fmla="*/ 0 h 323850"/>
                <a:gd name="csX1" fmla="*/ 781050 w 781050"/>
                <a:gd name="csY1" fmla="*/ 0 h 323850"/>
                <a:gd name="csX2" fmla="*/ 781050 w 781050"/>
                <a:gd name="csY2" fmla="*/ 323850 h 323850"/>
                <a:gd name="csX3" fmla="*/ 723900 w 781050"/>
                <a:gd name="csY3" fmla="*/ 323850 h 323850"/>
                <a:gd name="csX4" fmla="*/ 57150 w 781050"/>
                <a:gd name="csY4" fmla="*/ 323850 h 323850"/>
                <a:gd name="csX5" fmla="*/ 0 w 781050"/>
                <a:gd name="csY5" fmla="*/ 323850 h 323850"/>
                <a:gd name="csX6" fmla="*/ 0 w 781050"/>
                <a:gd name="csY6" fmla="*/ 0 h 323850"/>
                <a:gd name="csX7" fmla="*/ 57150 w 781050"/>
                <a:gd name="csY7" fmla="*/ 0 h 3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3238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323850"/>
                  </a:lnTo>
                  <a:cubicBezTo>
                    <a:pt x="781050" y="323850"/>
                    <a:pt x="755463" y="323850"/>
                    <a:pt x="723900" y="323850"/>
                  </a:cubicBezTo>
                  <a:lnTo>
                    <a:pt x="57150" y="323850"/>
                  </a:lnTo>
                  <a:cubicBezTo>
                    <a:pt x="25587" y="323850"/>
                    <a:pt x="0" y="323850"/>
                    <a:pt x="0" y="3238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977D2AF-045B-2934-574E-83B9A7FEC470}"/>
                </a:ext>
              </a:extLst>
            </p:cNvPr>
            <p:cNvSpPr txBox="1"/>
            <p:nvPr/>
          </p:nvSpPr>
          <p:spPr>
            <a:xfrm>
              <a:off x="6872395" y="2121891"/>
              <a:ext cx="752259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DynamoDB</a:t>
              </a:r>
            </a:p>
          </p:txBody>
        </p:sp>
      </p:grpSp>
      <p:grpSp>
        <p:nvGrpSpPr>
          <p:cNvPr id="71" name="Graphic 29">
            <a:extLst>
              <a:ext uri="{FF2B5EF4-FFF2-40B4-BE49-F238E27FC236}">
                <a16:creationId xmlns:a16="http://schemas.microsoft.com/office/drawing/2014/main" id="{76612ADC-5B5A-2D70-52EC-A9F52A79136C}"/>
              </a:ext>
            </a:extLst>
          </p:cNvPr>
          <p:cNvGrpSpPr/>
          <p:nvPr/>
        </p:nvGrpSpPr>
        <p:grpSpPr>
          <a:xfrm>
            <a:off x="6858000" y="2605278"/>
            <a:ext cx="781050" cy="323850"/>
            <a:chOff x="6858000" y="2605278"/>
            <a:chExt cx="781050" cy="323850"/>
          </a:xfrm>
        </p:grpSpPr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61068EE3-FBA9-098F-CDD5-13B4CE50FE3F}"/>
                </a:ext>
              </a:extLst>
            </p:cNvPr>
            <p:cNvSpPr/>
            <p:nvPr/>
          </p:nvSpPr>
          <p:spPr>
            <a:xfrm>
              <a:off x="6858000" y="2605278"/>
              <a:ext cx="781050" cy="323850"/>
            </a:xfrm>
            <a:custGeom>
              <a:avLst/>
              <a:gdLst>
                <a:gd name="csX0" fmla="*/ 723900 w 781050"/>
                <a:gd name="csY0" fmla="*/ 0 h 323850"/>
                <a:gd name="csX1" fmla="*/ 781050 w 781050"/>
                <a:gd name="csY1" fmla="*/ 0 h 323850"/>
                <a:gd name="csX2" fmla="*/ 781050 w 781050"/>
                <a:gd name="csY2" fmla="*/ 323850 h 323850"/>
                <a:gd name="csX3" fmla="*/ 723900 w 781050"/>
                <a:gd name="csY3" fmla="*/ 323850 h 323850"/>
                <a:gd name="csX4" fmla="*/ 57150 w 781050"/>
                <a:gd name="csY4" fmla="*/ 323850 h 323850"/>
                <a:gd name="csX5" fmla="*/ 0 w 781050"/>
                <a:gd name="csY5" fmla="*/ 323850 h 323850"/>
                <a:gd name="csX6" fmla="*/ 0 w 781050"/>
                <a:gd name="csY6" fmla="*/ 0 h 323850"/>
                <a:gd name="csX7" fmla="*/ 57150 w 781050"/>
                <a:gd name="csY7" fmla="*/ 0 h 3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3238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323850"/>
                  </a:lnTo>
                  <a:cubicBezTo>
                    <a:pt x="781050" y="323850"/>
                    <a:pt x="755463" y="323850"/>
                    <a:pt x="723900" y="323850"/>
                  </a:cubicBezTo>
                  <a:lnTo>
                    <a:pt x="57150" y="323850"/>
                  </a:lnTo>
                  <a:cubicBezTo>
                    <a:pt x="25587" y="323850"/>
                    <a:pt x="0" y="323850"/>
                    <a:pt x="0" y="3238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7C8A9F0-AF09-5213-4811-E063C73220CF}"/>
                </a:ext>
              </a:extLst>
            </p:cNvPr>
            <p:cNvSpPr txBox="1"/>
            <p:nvPr/>
          </p:nvSpPr>
          <p:spPr>
            <a:xfrm>
              <a:off x="6813571" y="2598141"/>
              <a:ext cx="869907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Lambda+VPC</a:t>
              </a:r>
            </a:p>
          </p:txBody>
        </p:sp>
      </p:grpSp>
      <p:grpSp>
        <p:nvGrpSpPr>
          <p:cNvPr id="74" name="Graphic 29">
            <a:extLst>
              <a:ext uri="{FF2B5EF4-FFF2-40B4-BE49-F238E27FC236}">
                <a16:creationId xmlns:a16="http://schemas.microsoft.com/office/drawing/2014/main" id="{74B8901B-1BB6-DEE8-C84F-D21B886C2326}"/>
              </a:ext>
            </a:extLst>
          </p:cNvPr>
          <p:cNvGrpSpPr/>
          <p:nvPr/>
        </p:nvGrpSpPr>
        <p:grpSpPr>
          <a:xfrm>
            <a:off x="6858000" y="3081528"/>
            <a:ext cx="781050" cy="476250"/>
            <a:chOff x="6858000" y="3081528"/>
            <a:chExt cx="781050" cy="476250"/>
          </a:xfrm>
        </p:grpSpPr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EE0F1EF2-EED3-AA27-02A8-DE58415E9372}"/>
                </a:ext>
              </a:extLst>
            </p:cNvPr>
            <p:cNvSpPr/>
            <p:nvPr/>
          </p:nvSpPr>
          <p:spPr>
            <a:xfrm>
              <a:off x="6858000" y="3081528"/>
              <a:ext cx="781050" cy="476250"/>
            </a:xfrm>
            <a:custGeom>
              <a:avLst/>
              <a:gdLst>
                <a:gd name="csX0" fmla="*/ 723900 w 781050"/>
                <a:gd name="csY0" fmla="*/ 0 h 476250"/>
                <a:gd name="csX1" fmla="*/ 781050 w 781050"/>
                <a:gd name="csY1" fmla="*/ 0 h 476250"/>
                <a:gd name="csX2" fmla="*/ 781050 w 781050"/>
                <a:gd name="csY2" fmla="*/ 476250 h 476250"/>
                <a:gd name="csX3" fmla="*/ 723900 w 781050"/>
                <a:gd name="csY3" fmla="*/ 476250 h 476250"/>
                <a:gd name="csX4" fmla="*/ 57150 w 781050"/>
                <a:gd name="csY4" fmla="*/ 476250 h 476250"/>
                <a:gd name="csX5" fmla="*/ 0 w 781050"/>
                <a:gd name="csY5" fmla="*/ 476250 h 476250"/>
                <a:gd name="csX6" fmla="*/ 0 w 781050"/>
                <a:gd name="csY6" fmla="*/ 0 h 476250"/>
                <a:gd name="csX7" fmla="*/ 57150 w 781050"/>
                <a:gd name="csY7" fmla="*/ 0 h 476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4762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476250"/>
                  </a:lnTo>
                  <a:cubicBezTo>
                    <a:pt x="781050" y="476250"/>
                    <a:pt x="755463" y="476250"/>
                    <a:pt x="723900" y="476250"/>
                  </a:cubicBezTo>
                  <a:lnTo>
                    <a:pt x="57150" y="476250"/>
                  </a:lnTo>
                  <a:cubicBezTo>
                    <a:pt x="25587" y="476250"/>
                    <a:pt x="0" y="476250"/>
                    <a:pt x="0" y="4762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8438448-37FD-209B-86ED-1DBE22B64474}"/>
                </a:ext>
              </a:extLst>
            </p:cNvPr>
            <p:cNvSpPr txBox="1"/>
            <p:nvPr/>
          </p:nvSpPr>
          <p:spPr>
            <a:xfrm>
              <a:off x="7025316" y="3102966"/>
              <a:ext cx="446417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Stack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A6BF101-25AA-B7B7-2D22-02EC91D22EC7}"/>
                </a:ext>
              </a:extLst>
            </p:cNvPr>
            <p:cNvSpPr txBox="1"/>
            <p:nvPr/>
          </p:nvSpPr>
          <p:spPr>
            <a:xfrm>
              <a:off x="6908811" y="3255366"/>
              <a:ext cx="679426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Completo</a:t>
              </a:r>
            </a:p>
          </p:txBody>
        </p:sp>
      </p:grpSp>
      <p:sp>
        <p:nvSpPr>
          <p:cNvPr id="78" name="Freeform 77">
            <a:extLst>
              <a:ext uri="{FF2B5EF4-FFF2-40B4-BE49-F238E27FC236}">
                <a16:creationId xmlns:a16="http://schemas.microsoft.com/office/drawing/2014/main" id="{F0B9E791-1012-CB3D-23B4-45C9BAAF0787}"/>
              </a:ext>
            </a:extLst>
          </p:cNvPr>
          <p:cNvSpPr/>
          <p:nvPr/>
        </p:nvSpPr>
        <p:spPr>
          <a:xfrm>
            <a:off x="4000500" y="3405378"/>
            <a:ext cx="3238500" cy="742950"/>
          </a:xfrm>
          <a:custGeom>
            <a:avLst/>
            <a:gdLst>
              <a:gd name="csX0" fmla="*/ 3238500 w 3238500"/>
              <a:gd name="csY0" fmla="*/ 323850 h 742950"/>
              <a:gd name="csX1" fmla="*/ 3238500 w 3238500"/>
              <a:gd name="csY1" fmla="*/ 742950 h 742950"/>
              <a:gd name="csX2" fmla="*/ 0 w 3238500"/>
              <a:gd name="csY2" fmla="*/ 742950 h 742950"/>
              <a:gd name="csX3" fmla="*/ 0 w 3238500"/>
              <a:gd name="csY3" fmla="*/ 0 h 742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38500" h="742950">
                <a:moveTo>
                  <a:pt x="3238500" y="323850"/>
                </a:moveTo>
                <a:lnTo>
                  <a:pt x="3238500" y="742950"/>
                </a:lnTo>
                <a:lnTo>
                  <a:pt x="0" y="742950"/>
                </a:lnTo>
                <a:lnTo>
                  <a:pt x="0" y="0"/>
                </a:lnTo>
              </a:path>
            </a:pathLst>
          </a:custGeom>
          <a:noFill/>
          <a:ln w="9525" cap="flat">
            <a:solidFill>
              <a:srgbClr val="1D9E75"/>
            </a:solidFill>
            <a:prstDash val="dash"/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7942C89-8BC5-34FD-F06D-C5533669D083}"/>
              </a:ext>
            </a:extLst>
          </p:cNvPr>
          <p:cNvSpPr txBox="1"/>
          <p:nvPr/>
        </p:nvSpPr>
        <p:spPr>
          <a:xfrm>
            <a:off x="4436971" y="4122141"/>
            <a:ext cx="1984556" cy="243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O" sz="900" spc="0" baseline="0">
                <a:ln/>
                <a:solidFill>
                  <a:srgbClr val="C2C0B6"/>
                </a:solidFill>
                <a:latin typeface="Segoe UI"/>
                <a:cs typeface="Segoe UI"/>
                <a:sym typeface="Segoe UI"/>
                <a:rtl val="0"/>
              </a:rPr>
              <a:t>Notifica éxito + Stack ID al catálogo</a:t>
            </a:r>
          </a:p>
        </p:txBody>
      </p:sp>
    </p:spTree>
    <p:extLst>
      <p:ext uri="{BB962C8B-B14F-4D97-AF65-F5344CB8AC3E}">
        <p14:creationId xmlns:p14="http://schemas.microsoft.com/office/powerpoint/2010/main" val="30767960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clave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medible al </a:t>
            </a:r>
            <a:r>
              <a:rPr lang="en-US" sz="12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adoptar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Ingeniería de Plataforma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27432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8" name="Shape 6"/>
          <p:cNvSpPr/>
          <p:nvPr/>
        </p:nvSpPr>
        <p:spPr>
          <a:xfrm>
            <a:off x="274320" y="1051560"/>
            <a:ext cx="2743200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Text 7"/>
          <p:cNvSpPr/>
          <p:nvPr/>
        </p:nvSpPr>
        <p:spPr>
          <a:xfrm>
            <a:off x="411480" y="11155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hr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aprovisionamiento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semanas con tickets manuales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72968" y="1051560"/>
            <a:ext cx="27432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3" name="Shape 11"/>
          <p:cNvSpPr/>
          <p:nvPr/>
        </p:nvSpPr>
        <p:spPr>
          <a:xfrm>
            <a:off x="3172968" y="1051560"/>
            <a:ext cx="2743200" cy="548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Text 12"/>
          <p:cNvSpPr/>
          <p:nvPr/>
        </p:nvSpPr>
        <p:spPr>
          <a:xfrm>
            <a:off x="3310128" y="11155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310128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</a:t>
            </a:r>
            <a:r>
              <a:rPr lang="en-US" sz="11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10128" y="19568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alistamiento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71616" y="1051560"/>
            <a:ext cx="27432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8" name="Shape 16"/>
          <p:cNvSpPr/>
          <p:nvPr/>
        </p:nvSpPr>
        <p:spPr>
          <a:xfrm>
            <a:off x="6071616" y="1051560"/>
            <a:ext cx="2743200" cy="548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Text 17"/>
          <p:cNvSpPr/>
          <p:nvPr/>
        </p:nvSpPr>
        <p:spPr>
          <a:xfrm>
            <a:off x="6208776" y="11155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208776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</a:t>
            </a: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08776" y="19568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Path &amp; Templates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3" name="Shape 21"/>
          <p:cNvSpPr/>
          <p:nvPr/>
        </p:nvSpPr>
        <p:spPr>
          <a:xfrm>
            <a:off x="274320" y="2487168"/>
            <a:ext cx="2029968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615184"/>
            <a:ext cx="274320" cy="27432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68096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02336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semanas a horas en aprovisionar una arquitectura completa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450592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8" name="Shape 25"/>
          <p:cNvSpPr/>
          <p:nvPr/>
        </p:nvSpPr>
        <p:spPr>
          <a:xfrm>
            <a:off x="2450592" y="2487168"/>
            <a:ext cx="2029968" cy="548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0" name="Text 26"/>
          <p:cNvSpPr/>
          <p:nvPr/>
        </p:nvSpPr>
        <p:spPr>
          <a:xfrm>
            <a:off x="2944368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DevEx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2578608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 err="1"/>
              <a:t>Enriquecimiento</a:t>
            </a:r>
            <a:r>
              <a:rPr lang="en-US" sz="950" dirty="0"/>
              <a:t> de </a:t>
            </a:r>
            <a:r>
              <a:rPr lang="en-US" sz="950" dirty="0" err="1"/>
              <a:t>experiencia</a:t>
            </a:r>
            <a:r>
              <a:rPr lang="en-US" sz="950" dirty="0"/>
              <a:t> del </a:t>
            </a:r>
            <a:r>
              <a:rPr lang="en-US" sz="950" dirty="0" err="1"/>
              <a:t>desarrollador</a:t>
            </a:r>
            <a:r>
              <a:rPr lang="en-US" sz="950" dirty="0"/>
              <a:t> con GUI intuitive y </a:t>
            </a:r>
            <a:r>
              <a:rPr lang="en-US" sz="950" dirty="0" err="1"/>
              <a:t>mantenible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626864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3" name="Shape 29"/>
          <p:cNvSpPr/>
          <p:nvPr/>
        </p:nvSpPr>
        <p:spPr>
          <a:xfrm>
            <a:off x="4626864" y="2487168"/>
            <a:ext cx="2029968" cy="548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615184"/>
            <a:ext cx="274320" cy="27432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5120640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sin fricción</a:t>
            </a:r>
            <a:endParaRPr lang="en-US" sz="1100" dirty="0"/>
          </a:p>
        </p:txBody>
      </p:sp>
      <p:sp>
        <p:nvSpPr>
          <p:cNvPr id="36" name="Text 31"/>
          <p:cNvSpPr/>
          <p:nvPr/>
        </p:nvSpPr>
        <p:spPr>
          <a:xfrm>
            <a:off x="4754880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squads adoptan el golden path sin onboarding manual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803136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8" name="Shape 33"/>
          <p:cNvSpPr/>
          <p:nvPr/>
        </p:nvSpPr>
        <p:spPr>
          <a:xfrm>
            <a:off x="6803136" y="2487168"/>
            <a:ext cx="20299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2615184"/>
            <a:ext cx="274320" cy="27432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296912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Extensibilidad</a:t>
            </a: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6931152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Lambdas, tablas o microservicios sigue el mismo flujo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274320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43" name="Shape 37"/>
          <p:cNvSpPr/>
          <p:nvPr/>
        </p:nvSpPr>
        <p:spPr>
          <a:xfrm>
            <a:off x="274320" y="3694176"/>
            <a:ext cx="2029968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4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" y="3822192"/>
            <a:ext cx="274320" cy="27432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768096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nativo</a:t>
            </a:r>
            <a:endParaRPr lang="en-US" sz="1100" dirty="0"/>
          </a:p>
        </p:txBody>
      </p:sp>
      <p:sp>
        <p:nvSpPr>
          <p:cNvPr id="46" name="Text 39"/>
          <p:cNvSpPr/>
          <p:nvPr/>
        </p:nvSpPr>
        <p:spPr>
          <a:xfrm>
            <a:off x="402336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infraestructura en PR · revisable · versionada · auditable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2450592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48" name="Shape 41"/>
          <p:cNvSpPr/>
          <p:nvPr/>
        </p:nvSpPr>
        <p:spPr>
          <a:xfrm>
            <a:off x="2450592" y="3694176"/>
            <a:ext cx="2029968" cy="548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8608" y="3822192"/>
            <a:ext cx="274320" cy="27432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2944368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</a:t>
            </a:r>
            <a:endParaRPr lang="en-US" sz="1100" dirty="0"/>
          </a:p>
        </p:txBody>
      </p:sp>
      <p:sp>
        <p:nvSpPr>
          <p:cNvPr id="51" name="Text 43"/>
          <p:cNvSpPr/>
          <p:nvPr/>
        </p:nvSpPr>
        <p:spPr>
          <a:xfrm>
            <a:off x="2578608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detecta cambios no gestionados automáticamente</a:t>
            </a:r>
            <a:endParaRPr lang="en-US" sz="950" dirty="0"/>
          </a:p>
        </p:txBody>
      </p:sp>
      <p:sp>
        <p:nvSpPr>
          <p:cNvPr id="52" name="Shape 44"/>
          <p:cNvSpPr/>
          <p:nvPr/>
        </p:nvSpPr>
        <p:spPr>
          <a:xfrm>
            <a:off x="4626864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53" name="Shape 45"/>
          <p:cNvSpPr/>
          <p:nvPr/>
        </p:nvSpPr>
        <p:spPr>
          <a:xfrm>
            <a:off x="4626864" y="3694176"/>
            <a:ext cx="2029968" cy="548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22192"/>
            <a:ext cx="274320" cy="274320"/>
          </a:xfrm>
          <a:prstGeom prst="rect">
            <a:avLst/>
          </a:prstGeom>
        </p:spPr>
      </p:pic>
      <p:sp>
        <p:nvSpPr>
          <p:cNvPr id="55" name="Text 46"/>
          <p:cNvSpPr/>
          <p:nvPr/>
        </p:nvSpPr>
        <p:spPr>
          <a:xfrm>
            <a:off x="5120640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 costo</a:t>
            </a:r>
            <a:endParaRPr lang="en-US" sz="1100" dirty="0"/>
          </a:p>
        </p:txBody>
      </p:sp>
      <p:sp>
        <p:nvSpPr>
          <p:cNvPr id="56" name="Text 47"/>
          <p:cNvSpPr/>
          <p:nvPr/>
        </p:nvSpPr>
        <p:spPr>
          <a:xfrm>
            <a:off x="4754880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tags por squad desde el día 1, sin configuración extra</a:t>
            </a:r>
            <a:endParaRPr lang="en-US" sz="950" dirty="0"/>
          </a:p>
        </p:txBody>
      </p:sp>
      <p:sp>
        <p:nvSpPr>
          <p:cNvPr id="57" name="Shape 48"/>
          <p:cNvSpPr/>
          <p:nvPr/>
        </p:nvSpPr>
        <p:spPr>
          <a:xfrm>
            <a:off x="6803136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58" name="Shape 49"/>
          <p:cNvSpPr/>
          <p:nvPr/>
        </p:nvSpPr>
        <p:spPr>
          <a:xfrm>
            <a:off x="6803136" y="3694176"/>
            <a:ext cx="2029968" cy="5486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5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1152" y="3822192"/>
            <a:ext cx="274320" cy="274320"/>
          </a:xfrm>
          <a:prstGeom prst="rect">
            <a:avLst/>
          </a:prstGeom>
        </p:spPr>
      </p:pic>
      <p:sp>
        <p:nvSpPr>
          <p:cNvPr id="60" name="Text 50"/>
          <p:cNvSpPr/>
          <p:nvPr/>
        </p:nvSpPr>
        <p:spPr>
          <a:xfrm>
            <a:off x="7296912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vendor lock-in</a:t>
            </a:r>
            <a:endParaRPr lang="en-US" sz="1100" dirty="0"/>
          </a:p>
        </p:txBody>
      </p:sp>
      <p:sp>
        <p:nvSpPr>
          <p:cNvPr id="61" name="Text 51"/>
          <p:cNvSpPr/>
          <p:nvPr/>
        </p:nvSpPr>
        <p:spPr>
          <a:xfrm>
            <a:off x="6931152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+ CFN: herramientas estándar y ampliamente adoptadas</a:t>
            </a:r>
            <a:endParaRPr lang="en-US" sz="950" dirty="0"/>
          </a:p>
        </p:txBody>
      </p:sp>
      <p:pic>
        <p:nvPicPr>
          <p:cNvPr id="63" name="Graphic 62" descr="Programmer male with solid fill">
            <a:extLst>
              <a:ext uri="{FF2B5EF4-FFF2-40B4-BE49-F238E27FC236}">
                <a16:creationId xmlns:a16="http://schemas.microsoft.com/office/drawing/2014/main" id="{985D6717-1FCC-4CA3-F30E-E573DF882D5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14600" y="2578608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8EE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55CD6B-BC14-E7E7-409D-1618470BE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20E67B6-2E38-8FF8-A8E9-91D2C2E48EA0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8951DA3-3001-9D33-28AF-56F21D697572}"/>
              </a:ext>
            </a:extLst>
          </p:cNvPr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 de autoservicio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F968183-4472-2FFE-FA16-636C3A8539FA}"/>
              </a:ext>
            </a:extLst>
          </p:cNvPr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solicitud en Port al stack CloudFormation aprovisionado en AWS</a:t>
            </a:r>
            <a:endParaRPr lang="en-US" sz="1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63792E8-1A69-4DC3-A6CC-A734FDD553FF}"/>
              </a:ext>
            </a:extLst>
          </p:cNvPr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31067C5-A9B3-E99B-5457-BABC97507486}"/>
              </a:ext>
            </a:extLst>
          </p:cNvPr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20AB9E3-40D7-364A-DA9D-D058077C3AB2}"/>
              </a:ext>
            </a:extLst>
          </p:cNvPr>
          <p:cNvSpPr/>
          <p:nvPr/>
        </p:nvSpPr>
        <p:spPr>
          <a:xfrm>
            <a:off x="274320" y="987552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F59491F-72AD-83E2-AEF1-28B343B7D2A2}"/>
              </a:ext>
            </a:extLst>
          </p:cNvPr>
          <p:cNvSpPr/>
          <p:nvPr/>
        </p:nvSpPr>
        <p:spPr>
          <a:xfrm>
            <a:off x="274320" y="9875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 · Developer</a:t>
            </a:r>
            <a:endParaRPr lang="en-US" sz="10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B5051CC-4C4F-2A83-5259-DCE72E658C50}"/>
              </a:ext>
            </a:extLst>
          </p:cNvPr>
          <p:cNvSpPr/>
          <p:nvPr/>
        </p:nvSpPr>
        <p:spPr>
          <a:xfrm>
            <a:off x="2377440" y="1197864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26230FD-FAF8-2732-2811-E0A239A26E97}"/>
              </a:ext>
            </a:extLst>
          </p:cNvPr>
          <p:cNvSpPr/>
          <p:nvPr/>
        </p:nvSpPr>
        <p:spPr>
          <a:xfrm>
            <a:off x="2633472" y="987552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EBA1000-9F4B-4F3E-5BA6-64220DA26B84}"/>
              </a:ext>
            </a:extLst>
          </p:cNvPr>
          <p:cNvSpPr/>
          <p:nvPr/>
        </p:nvSpPr>
        <p:spPr>
          <a:xfrm>
            <a:off x="2633472" y="987552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3E33903-E1F8-7513-7022-6F2406CDA827}"/>
              </a:ext>
            </a:extLst>
          </p:cNvPr>
          <p:cNvSpPr/>
          <p:nvPr/>
        </p:nvSpPr>
        <p:spPr>
          <a:xfrm>
            <a:off x="2798064" y="987552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 arquitectura en el catálogo de Port</a:t>
            </a:r>
            <a:endParaRPr lang="en-US" sz="11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1B2232A-935F-5A2F-477C-3C7DDDFF30A5}"/>
              </a:ext>
            </a:extLst>
          </p:cNvPr>
          <p:cNvSpPr/>
          <p:nvPr/>
        </p:nvSpPr>
        <p:spPr>
          <a:xfrm>
            <a:off x="1280160" y="1463040"/>
            <a:ext cx="36576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777F05E-2F25-4AFC-F0ED-5EB67B8BE37C}"/>
              </a:ext>
            </a:extLst>
          </p:cNvPr>
          <p:cNvSpPr/>
          <p:nvPr/>
        </p:nvSpPr>
        <p:spPr>
          <a:xfrm>
            <a:off x="274320" y="1591056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A95131C-F015-648A-26A7-20CA5313D3E7}"/>
              </a:ext>
            </a:extLst>
          </p:cNvPr>
          <p:cNvSpPr/>
          <p:nvPr/>
        </p:nvSpPr>
        <p:spPr>
          <a:xfrm>
            <a:off x="274320" y="159105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 · Port IDP</a:t>
            </a:r>
            <a:endParaRPr lang="en-US" sz="1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A58F6D17-0D0F-FDF3-D112-DC2B6809E2B4}"/>
              </a:ext>
            </a:extLst>
          </p:cNvPr>
          <p:cNvSpPr/>
          <p:nvPr/>
        </p:nvSpPr>
        <p:spPr>
          <a:xfrm>
            <a:off x="2377440" y="1801368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9CF94A8-35F6-CC86-C0F9-2DF18B181D5C}"/>
              </a:ext>
            </a:extLst>
          </p:cNvPr>
          <p:cNvSpPr/>
          <p:nvPr/>
        </p:nvSpPr>
        <p:spPr>
          <a:xfrm>
            <a:off x="2633472" y="1591056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7513A1E-DF3A-5C27-1DBA-C71DB8BD667C}"/>
              </a:ext>
            </a:extLst>
          </p:cNvPr>
          <p:cNvSpPr/>
          <p:nvPr/>
        </p:nvSpPr>
        <p:spPr>
          <a:xfrm>
            <a:off x="2633472" y="1591056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45494ADB-C50F-659A-1F0F-F2F96B922DC4}"/>
              </a:ext>
            </a:extLst>
          </p:cNvPr>
          <p:cNvSpPr/>
          <p:nvPr/>
        </p:nvSpPr>
        <p:spPr>
          <a:xfrm>
            <a:off x="2798064" y="1591056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Formulario: servicio · env · Lambdas · DDB · CIDR · tags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26F63F9-7147-6F4A-0859-C16F7459DEE5}"/>
              </a:ext>
            </a:extLst>
          </p:cNvPr>
          <p:cNvSpPr/>
          <p:nvPr/>
        </p:nvSpPr>
        <p:spPr>
          <a:xfrm>
            <a:off x="1280160" y="2066544"/>
            <a:ext cx="36576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AD2579D-3699-B146-5434-E7BAAB4B812C}"/>
              </a:ext>
            </a:extLst>
          </p:cNvPr>
          <p:cNvSpPr/>
          <p:nvPr/>
        </p:nvSpPr>
        <p:spPr>
          <a:xfrm>
            <a:off x="274320" y="2194560"/>
            <a:ext cx="21031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732FC4C-5AA2-79E8-84D6-EF9DA343A623}"/>
              </a:ext>
            </a:extLst>
          </p:cNvPr>
          <p:cNvSpPr/>
          <p:nvPr/>
        </p:nvSpPr>
        <p:spPr>
          <a:xfrm>
            <a:off x="274320" y="21945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3 · Guardarraíles</a:t>
            </a:r>
            <a:endParaRPr lang="en-US" sz="10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DE9A7F1-3A97-9EF6-037F-64F1A6B7AC0B}"/>
              </a:ext>
            </a:extLst>
          </p:cNvPr>
          <p:cNvSpPr/>
          <p:nvPr/>
        </p:nvSpPr>
        <p:spPr>
          <a:xfrm>
            <a:off x="2377440" y="2404872"/>
            <a:ext cx="22860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AAF8227-0F65-FE84-A859-856B73D9BE19}"/>
              </a:ext>
            </a:extLst>
          </p:cNvPr>
          <p:cNvSpPr/>
          <p:nvPr/>
        </p:nvSpPr>
        <p:spPr>
          <a:xfrm>
            <a:off x="2633472" y="2194560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C2A2417-9A4F-2985-317C-351652B6A02E}"/>
              </a:ext>
            </a:extLst>
          </p:cNvPr>
          <p:cNvSpPr/>
          <p:nvPr/>
        </p:nvSpPr>
        <p:spPr>
          <a:xfrm>
            <a:off x="2633472" y="2194560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C2D3172-D443-F94E-A0DA-DDC531D8435B}"/>
              </a:ext>
            </a:extLst>
          </p:cNvPr>
          <p:cNvSpPr/>
          <p:nvPr/>
        </p:nvSpPr>
        <p:spPr>
          <a:xfrm>
            <a:off x="2798064" y="2194560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cfn-guard + SCPs: IAM · naming · cuotas · budget</a:t>
            </a:r>
            <a:endParaRPr lang="en-US" sz="1100" dirty="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C80ABB5A-C40D-4833-ED81-A7E4A59D3ACB}"/>
              </a:ext>
            </a:extLst>
          </p:cNvPr>
          <p:cNvSpPr/>
          <p:nvPr/>
        </p:nvSpPr>
        <p:spPr>
          <a:xfrm>
            <a:off x="1280160" y="2670048"/>
            <a:ext cx="36576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3711B321-E265-7411-DFFE-3A073BC3B8F1}"/>
              </a:ext>
            </a:extLst>
          </p:cNvPr>
          <p:cNvSpPr/>
          <p:nvPr/>
        </p:nvSpPr>
        <p:spPr>
          <a:xfrm>
            <a:off x="274320" y="2798064"/>
            <a:ext cx="2103120" cy="47548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BC0768E0-4CC1-25A8-61D0-92CCA2406F37}"/>
              </a:ext>
            </a:extLst>
          </p:cNvPr>
          <p:cNvSpPr/>
          <p:nvPr/>
        </p:nvSpPr>
        <p:spPr>
          <a:xfrm>
            <a:off x="274320" y="27980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4 · GitHub Actions</a:t>
            </a:r>
            <a:endParaRPr lang="en-US" sz="10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1D3A5267-D12B-E499-910C-284EAD2024B1}"/>
              </a:ext>
            </a:extLst>
          </p:cNvPr>
          <p:cNvSpPr/>
          <p:nvPr/>
        </p:nvSpPr>
        <p:spPr>
          <a:xfrm>
            <a:off x="2377440" y="3008376"/>
            <a:ext cx="228600" cy="36576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649022B-35EB-4545-F9F7-BCD1DE959673}"/>
              </a:ext>
            </a:extLst>
          </p:cNvPr>
          <p:cNvSpPr/>
          <p:nvPr/>
        </p:nvSpPr>
        <p:spPr>
          <a:xfrm>
            <a:off x="2633472" y="2798064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39B7C799-764E-CB77-3E6F-9DF53A7A766F}"/>
              </a:ext>
            </a:extLst>
          </p:cNvPr>
          <p:cNvSpPr/>
          <p:nvPr/>
        </p:nvSpPr>
        <p:spPr>
          <a:xfrm>
            <a:off x="2633472" y="2798064"/>
            <a:ext cx="54864" cy="47548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757A6A8B-6D0F-B19F-4FE1-937D45558195}"/>
              </a:ext>
            </a:extLst>
          </p:cNvPr>
          <p:cNvSpPr/>
          <p:nvPr/>
        </p:nvSpPr>
        <p:spPr>
          <a:xfrm>
            <a:off x="2798064" y="2798064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CFN generado → cfn-lint → Change Set → deploy</a:t>
            </a:r>
            <a:endParaRPr lang="en-US" sz="11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50AFF8AA-1489-4A74-CE01-1874599F152A}"/>
              </a:ext>
            </a:extLst>
          </p:cNvPr>
          <p:cNvSpPr/>
          <p:nvPr/>
        </p:nvSpPr>
        <p:spPr>
          <a:xfrm>
            <a:off x="1280160" y="3273552"/>
            <a:ext cx="36576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06B81A77-72AB-2EB7-84A0-D931B635EC72}"/>
              </a:ext>
            </a:extLst>
          </p:cNvPr>
          <p:cNvSpPr/>
          <p:nvPr/>
        </p:nvSpPr>
        <p:spPr>
          <a:xfrm>
            <a:off x="274320" y="3401568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57199A22-964F-2A98-9EB9-9355204B39A2}"/>
              </a:ext>
            </a:extLst>
          </p:cNvPr>
          <p:cNvSpPr/>
          <p:nvPr/>
        </p:nvSpPr>
        <p:spPr>
          <a:xfrm>
            <a:off x="274320" y="340156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5 · AWS CloudFormation</a:t>
            </a:r>
            <a:endParaRPr lang="en-US" sz="1000" dirty="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B2FFD9C-58E0-4B07-95FD-C2527F017A17}"/>
              </a:ext>
            </a:extLst>
          </p:cNvPr>
          <p:cNvSpPr/>
          <p:nvPr/>
        </p:nvSpPr>
        <p:spPr>
          <a:xfrm>
            <a:off x="2377440" y="3611880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12DD2EF6-9121-1365-9F59-53D331F1DFC7}"/>
              </a:ext>
            </a:extLst>
          </p:cNvPr>
          <p:cNvSpPr/>
          <p:nvPr/>
        </p:nvSpPr>
        <p:spPr>
          <a:xfrm>
            <a:off x="2633472" y="3401568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9" name="Shape 37">
            <a:extLst>
              <a:ext uri="{FF2B5EF4-FFF2-40B4-BE49-F238E27FC236}">
                <a16:creationId xmlns:a16="http://schemas.microsoft.com/office/drawing/2014/main" id="{B5050DDC-EB05-6C67-5571-3FC1C5DA647E}"/>
              </a:ext>
            </a:extLst>
          </p:cNvPr>
          <p:cNvSpPr/>
          <p:nvPr/>
        </p:nvSpPr>
        <p:spPr>
          <a:xfrm>
            <a:off x="2633472" y="3401568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F46C36F-8C8D-9DA0-C338-D753DA4C21BD}"/>
              </a:ext>
            </a:extLst>
          </p:cNvPr>
          <p:cNvSpPr/>
          <p:nvPr/>
        </p:nvSpPr>
        <p:spPr>
          <a:xfrm>
            <a:off x="2798064" y="3401568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Stacks: IAM · SG · VPC Endpoints · Lambda (VPC) · DynamoDB privado</a:t>
            </a:r>
            <a:endParaRPr lang="en-US" sz="11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0D115F4E-9295-4128-6C70-71FF55A55BEB}"/>
              </a:ext>
            </a:extLst>
          </p:cNvPr>
          <p:cNvSpPr/>
          <p:nvPr/>
        </p:nvSpPr>
        <p:spPr>
          <a:xfrm>
            <a:off x="1280160" y="3877056"/>
            <a:ext cx="36576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698E556B-D07E-05B0-D44C-4EB23B9D429D}"/>
              </a:ext>
            </a:extLst>
          </p:cNvPr>
          <p:cNvSpPr/>
          <p:nvPr/>
        </p:nvSpPr>
        <p:spPr>
          <a:xfrm>
            <a:off x="274320" y="4005072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317F2C54-92F8-AD9D-A026-3B70AA674F58}"/>
              </a:ext>
            </a:extLst>
          </p:cNvPr>
          <p:cNvSpPr/>
          <p:nvPr/>
        </p:nvSpPr>
        <p:spPr>
          <a:xfrm>
            <a:off x="274320" y="400507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6 · Observabilidad</a:t>
            </a:r>
            <a:endParaRPr lang="en-US" sz="10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9AC05F0C-E70D-03A9-D6B0-8E3E102143B7}"/>
              </a:ext>
            </a:extLst>
          </p:cNvPr>
          <p:cNvSpPr/>
          <p:nvPr/>
        </p:nvSpPr>
        <p:spPr>
          <a:xfrm>
            <a:off x="2377440" y="4215384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5" name="Shape 43">
            <a:extLst>
              <a:ext uri="{FF2B5EF4-FFF2-40B4-BE49-F238E27FC236}">
                <a16:creationId xmlns:a16="http://schemas.microsoft.com/office/drawing/2014/main" id="{E57C91B1-A83B-D239-ECA3-1D706BFFAD1F}"/>
              </a:ext>
            </a:extLst>
          </p:cNvPr>
          <p:cNvSpPr/>
          <p:nvPr/>
        </p:nvSpPr>
        <p:spPr>
          <a:xfrm>
            <a:off x="2633472" y="4005072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C00AEB22-279A-27EC-EE54-A08F4ABDA723}"/>
              </a:ext>
            </a:extLst>
          </p:cNvPr>
          <p:cNvSpPr/>
          <p:nvPr/>
        </p:nvSpPr>
        <p:spPr>
          <a:xfrm>
            <a:off x="2633472" y="4005072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11D80E54-55D6-503F-D692-49D1DA25A29F}"/>
              </a:ext>
            </a:extLst>
          </p:cNvPr>
          <p:cNvSpPr/>
          <p:nvPr/>
        </p:nvSpPr>
        <p:spPr>
          <a:xfrm>
            <a:off x="2798064" y="4005072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catálogo · owner · CloudWatch · drift detection · cost tags</a:t>
            </a:r>
            <a:endParaRPr lang="en-US" sz="11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8442F2E6-27F8-2E47-B52A-545089435FB4}"/>
              </a:ext>
            </a:extLst>
          </p:cNvPr>
          <p:cNvSpPr/>
          <p:nvPr/>
        </p:nvSpPr>
        <p:spPr>
          <a:xfrm>
            <a:off x="274320" y="4572000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extensión de nuevos componentes (Lambda, tabla DDB, microservicio) sigue exactamente el mismo flujo — sin tickets manuales.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847369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infraestructura segura</a:t>
            </a:r>
            <a:endParaRPr lang="en-US" sz="3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existe. El IDP la democratiza.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+ CloudFormation + GitHub Actions convierte el conocimiento experto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autoservicio confiable para todos los equipos de desarrollo.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474720"/>
            <a:ext cx="329184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3B0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¿Comenzamos con el diseño del catálogo de templates?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· Platform Engineering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3200400"/>
            <a:ext cx="1920240" cy="1920240"/>
          </a:xfrm>
          <a:prstGeom prst="rect">
            <a:avLst/>
          </a:prstGeom>
          <a:solidFill>
            <a:srgbClr val="1E5FA8">
              <a:alpha val="20000"/>
            </a:srgbClr>
          </a:solidFill>
          <a:ln w="12700">
            <a:solidFill>
              <a:srgbClr val="1E5F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Shape 8"/>
          <p:cNvSpPr/>
          <p:nvPr/>
        </p:nvSpPr>
        <p:spPr>
          <a:xfrm>
            <a:off x="7406640" y="1097280"/>
            <a:ext cx="1371600" cy="1920240"/>
          </a:xfrm>
          <a:prstGeom prst="rect">
            <a:avLst/>
          </a:prstGeom>
          <a:solidFill>
            <a:srgbClr val="0B8A6E">
              <a:alpha val="20000"/>
            </a:srgbClr>
          </a:solidFill>
          <a:ln w="12700">
            <a:solidFill>
              <a:srgbClr val="0B8A6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1045</Words>
  <Application>Microsoft Macintosh PowerPoint</Application>
  <PresentationFormat>On-screen Show (16:9)</PresentationFormat>
  <Paragraphs>255</Paragraphs>
  <Slides>13</Slides>
  <Notes>13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Segoe UI</vt:lpstr>
      <vt:lpstr>TWK Everett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IDP Strategy: Port + CloudFormation + GitHub Actions</dc:title>
  <dc:subject>PptxGenJS Presentation</dc:subject>
  <dc:creator>PptxGenJS</dc:creator>
  <cp:lastModifiedBy>Omar Alfredo Noriega Niebles</cp:lastModifiedBy>
  <cp:revision>4</cp:revision>
  <dcterms:created xsi:type="dcterms:W3CDTF">2026-04-08T14:50:10Z</dcterms:created>
  <dcterms:modified xsi:type="dcterms:W3CDTF">2026-04-10T15:45:35Z</dcterms:modified>
</cp:coreProperties>
</file>