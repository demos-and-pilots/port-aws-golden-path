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3" r:id="rId9"/>
    <p:sldId id="262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28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168" y="1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71915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0C0B7-2A06-4CDD-4F20-12C533EF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984E6-405B-6A5A-1FFF-84B047681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935D1C-9680-6212-FB59-8907CF845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4BBBD0-B5CF-0203-F50A-EDCA3D4057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2634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19.png"/><Relationship Id="rId4" Type="http://schemas.openxmlformats.org/officeDocument/2006/relationships/image" Target="../media/image14.png"/><Relationship Id="rId9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3B0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provisioning resources with Self Service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26517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· CloudFormation · GitHub Actions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3749040"/>
            <a:ext cx="32004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/>
          <p:cNvSpPr/>
          <p:nvPr/>
        </p:nvSpPr>
        <p:spPr>
          <a:xfrm>
            <a:off x="365760" y="38587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Itaú + Kyndryl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Abril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0" y="548640"/>
            <a:ext cx="1463040" cy="1463040"/>
          </a:xfrm>
          <a:prstGeom prst="rect">
            <a:avLst/>
          </a:prstGeom>
          <a:solidFill>
            <a:srgbClr val="1E5FA8">
              <a:alpha val="30000"/>
            </a:srgbClr>
          </a:solidFill>
          <a:ln w="12700">
            <a:solidFill>
              <a:srgbClr val="1E5FA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" name="Shape 7"/>
          <p:cNvSpPr/>
          <p:nvPr/>
        </p:nvSpPr>
        <p:spPr>
          <a:xfrm>
            <a:off x="7863840" y="1280160"/>
            <a:ext cx="1280160" cy="2926080"/>
          </a:xfrm>
          <a:prstGeom prst="rect">
            <a:avLst/>
          </a:prstGeom>
          <a:solidFill>
            <a:srgbClr val="0B8A6E">
              <a:alpha val="25000"/>
            </a:srgbClr>
          </a:solidFill>
          <a:ln w="12700">
            <a:solidFill>
              <a:srgbClr val="0B8A6E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5" name="Text 3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7" name="Shape 5"/>
          <p:cNvSpPr/>
          <p:nvPr/>
        </p:nvSpPr>
        <p:spPr>
          <a:xfrm>
            <a:off x="274320" y="1078992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" name="Text 6"/>
          <p:cNvSpPr/>
          <p:nvPr/>
        </p:nvSpPr>
        <p:spPr>
          <a:xfrm>
            <a:off x="438912" y="118872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8912" y="14996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8912" y="17373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brecha entre developers e infraestructura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78992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2" name="Shape 10"/>
          <p:cNvSpPr/>
          <p:nvPr/>
        </p:nvSpPr>
        <p:spPr>
          <a:xfrm>
            <a:off x="4754880" y="1078992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3" name="Text 11"/>
          <p:cNvSpPr/>
          <p:nvPr/>
        </p:nvSpPr>
        <p:spPr>
          <a:xfrm>
            <a:off x="4919472" y="118872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919472" y="14996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 propuesto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19472" y="17373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base en AWS con privacidad total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249424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7" name="Shape 15"/>
          <p:cNvSpPr/>
          <p:nvPr/>
        </p:nvSpPr>
        <p:spPr>
          <a:xfrm>
            <a:off x="274320" y="2249424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8" name="Text 16"/>
          <p:cNvSpPr/>
          <p:nvPr/>
        </p:nvSpPr>
        <p:spPr>
          <a:xfrm>
            <a:off x="438912" y="235915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38912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IDP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8912" y="29077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como portal de autoservicio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2249424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2" name="Shape 20"/>
          <p:cNvSpPr/>
          <p:nvPr/>
        </p:nvSpPr>
        <p:spPr>
          <a:xfrm>
            <a:off x="4754880" y="2249424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3" name="Text 21"/>
          <p:cNvSpPr/>
          <p:nvPr/>
        </p:nvSpPr>
        <p:spPr>
          <a:xfrm>
            <a:off x="4919472" y="235915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919472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entrega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19472" y="29077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GitHub Actions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3419856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7" name="Shape 25"/>
          <p:cNvSpPr/>
          <p:nvPr/>
        </p:nvSpPr>
        <p:spPr>
          <a:xfrm>
            <a:off x="274320" y="3419856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8" name="Text 26"/>
          <p:cNvSpPr/>
          <p:nvPr/>
        </p:nvSpPr>
        <p:spPr>
          <a:xfrm>
            <a:off x="438912" y="352958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38912" y="38404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38912" y="407822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formulario al stack aprovisionado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419856"/>
            <a:ext cx="4297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2" name="Shape 30"/>
          <p:cNvSpPr/>
          <p:nvPr/>
        </p:nvSpPr>
        <p:spPr>
          <a:xfrm>
            <a:off x="4754880" y="3419856"/>
            <a:ext cx="54864" cy="96012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3" name="Text 31"/>
          <p:cNvSpPr/>
          <p:nvPr/>
        </p:nvSpPr>
        <p:spPr>
          <a:xfrm>
            <a:off x="4919472" y="352958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919472" y="38404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clave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919472" y="407822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en velocidad, seguridad y escala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brecha entre developers e infraestructura en AWS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078992"/>
            <a:ext cx="8595360" cy="713232"/>
          </a:xfrm>
          <a:prstGeom prst="rect">
            <a:avLst/>
          </a:prstGeom>
          <a:solidFill>
            <a:srgbClr val="FDECEA"/>
          </a:solidFill>
          <a:ln w="12700">
            <a:solidFill>
              <a:srgbClr val="E57373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88720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078992"/>
            <a:ext cx="7680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Itaú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madurez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técnica en AWS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democratizar esa infraestructura.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alguno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semi-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ocasiones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ser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artesanal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lento (+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ticketOps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 </a:t>
            </a:r>
            <a:r>
              <a:rPr lang="en-US" sz="120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depender</a:t>
            </a:r>
            <a:r>
              <a:rPr lang="en-US" sz="12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2–3 expertos.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74320" y="193852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1" name="Shape 8"/>
          <p:cNvSpPr/>
          <p:nvPr/>
        </p:nvSpPr>
        <p:spPr>
          <a:xfrm>
            <a:off x="274320" y="1938528"/>
            <a:ext cx="2743200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121408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1248" y="21214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lentos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11480" y="250545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solo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puede crear el equipo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plataforma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172968" y="193852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6" name="Shape 12"/>
          <p:cNvSpPr/>
          <p:nvPr/>
        </p:nvSpPr>
        <p:spPr>
          <a:xfrm>
            <a:off x="3172968" y="1938528"/>
            <a:ext cx="27432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0128" y="2121408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739896" y="21214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inconsistente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3310128" y="250545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proyecto configura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permisos a su manera,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creando deuda técnica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071616" y="193852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1" name="Shape 16"/>
          <p:cNvSpPr/>
          <p:nvPr/>
        </p:nvSpPr>
        <p:spPr>
          <a:xfrm>
            <a:off x="6071616" y="1938528"/>
            <a:ext cx="2743200" cy="64008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8776" y="2121408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638544" y="21214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silo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208776" y="250545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'cómo' vive en la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cabeza de pocos ingenieros,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golden path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274320" y="326440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6" name="Shape 20"/>
          <p:cNvSpPr/>
          <p:nvPr/>
        </p:nvSpPr>
        <p:spPr>
          <a:xfrm>
            <a:off x="274320" y="3264408"/>
            <a:ext cx="2743200" cy="6400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3447288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41248" y="34472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VPCs manuales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411480" y="383133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ocasiones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Security groups y endpoints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configurados a mano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3172968" y="326440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1" name="Shape 24"/>
          <p:cNvSpPr/>
          <p:nvPr/>
        </p:nvSpPr>
        <p:spPr>
          <a:xfrm>
            <a:off x="3172968" y="3264408"/>
            <a:ext cx="2743200" cy="6400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0128" y="3447288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739896" y="34472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visibilidad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3310128" y="383133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catálogo de qué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existe, quién lo posee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qué cuesta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6071616" y="3264408"/>
            <a:ext cx="27432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6" name="Shape 28"/>
          <p:cNvSpPr/>
          <p:nvPr/>
        </p:nvSpPr>
        <p:spPr>
          <a:xfrm>
            <a:off x="6071616" y="3264408"/>
            <a:ext cx="27432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08776" y="3447288"/>
            <a:ext cx="347472" cy="34747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638544" y="34472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Time-to-market alto</a:t>
            </a:r>
            <a:endParaRPr lang="en-US" sz="1200" dirty="0"/>
          </a:p>
        </p:txBody>
      </p:sp>
      <p:sp>
        <p:nvSpPr>
          <p:cNvPr id="39" name="Text 30"/>
          <p:cNvSpPr/>
          <p:nvPr/>
        </p:nvSpPr>
        <p:spPr>
          <a:xfrm>
            <a:off x="6208776" y="383133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para desplegar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arquitectura que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debería tardar horas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 propuesto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base que debe poder aprovisionarse en autoservicio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 la arquitectura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389888"/>
            <a:ext cx="41148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9" name="Shape 7"/>
          <p:cNvSpPr/>
          <p:nvPr/>
        </p:nvSpPr>
        <p:spPr>
          <a:xfrm>
            <a:off x="274320" y="1389888"/>
            <a:ext cx="64008" cy="5120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0" name="Text 8"/>
          <p:cNvSpPr/>
          <p:nvPr/>
        </p:nvSpPr>
        <p:spPr>
          <a:xfrm>
            <a:off x="896112" y="1453896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1664208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Cómputo serverless en VPC privada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1965960"/>
            <a:ext cx="41148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3" name="Shape 11"/>
          <p:cNvSpPr/>
          <p:nvPr/>
        </p:nvSpPr>
        <p:spPr>
          <a:xfrm>
            <a:off x="274320" y="1965960"/>
            <a:ext cx="64008" cy="5120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4" name="Text 12"/>
          <p:cNvSpPr/>
          <p:nvPr/>
        </p:nvSpPr>
        <p:spPr>
          <a:xfrm>
            <a:off x="896112" y="2029968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DynamoDB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6112" y="2240280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NoSQL con endpoint privado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542032"/>
            <a:ext cx="41148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7" name="Shape 15"/>
          <p:cNvSpPr/>
          <p:nvPr/>
        </p:nvSpPr>
        <p:spPr>
          <a:xfrm>
            <a:off x="274320" y="2542032"/>
            <a:ext cx="64008" cy="512064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8" name="Text 16"/>
          <p:cNvSpPr/>
          <p:nvPr/>
        </p:nvSpPr>
        <p:spPr>
          <a:xfrm>
            <a:off x="896112" y="260604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Endpoints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96112" y="2816352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· 100% privado · sin internet directo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118104"/>
            <a:ext cx="4114800" cy="512064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1" name="Shape 19"/>
          <p:cNvSpPr/>
          <p:nvPr/>
        </p:nvSpPr>
        <p:spPr>
          <a:xfrm>
            <a:off x="274320" y="3118104"/>
            <a:ext cx="64008" cy="51206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2" name="Text 20"/>
          <p:cNvSpPr/>
          <p:nvPr/>
        </p:nvSpPr>
        <p:spPr>
          <a:xfrm>
            <a:off x="896112" y="3182112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completo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96112" y="3392424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· perfiles · políticas least privilege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694176"/>
            <a:ext cx="4114800" cy="512064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5" name="Shape 23"/>
          <p:cNvSpPr/>
          <p:nvPr/>
        </p:nvSpPr>
        <p:spPr>
          <a:xfrm>
            <a:off x="274320" y="3694176"/>
            <a:ext cx="64008" cy="5120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Text 24"/>
          <p:cNvSpPr/>
          <p:nvPr/>
        </p:nvSpPr>
        <p:spPr>
          <a:xfrm>
            <a:off x="896112" y="3758184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6112" y="3968496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inbound/outbound por componente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114800" cy="512064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9" name="Shape 27"/>
          <p:cNvSpPr/>
          <p:nvPr/>
        </p:nvSpPr>
        <p:spPr>
          <a:xfrm>
            <a:off x="274320" y="4270248"/>
            <a:ext cx="64008" cy="5120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0" name="Text 28"/>
          <p:cNvSpPr/>
          <p:nvPr/>
        </p:nvSpPr>
        <p:spPr>
          <a:xfrm>
            <a:off x="896112" y="4334256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Link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96112" y="4544568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vía API Gateway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663440" y="1051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requeridas en autoservicio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663440" y="1389888"/>
            <a:ext cx="4206240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4" name="Shape 32"/>
          <p:cNvSpPr/>
          <p:nvPr/>
        </p:nvSpPr>
        <p:spPr>
          <a:xfrm>
            <a:off x="4663440" y="1389888"/>
            <a:ext cx="4206240" cy="548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5" name="Shape 33"/>
          <p:cNvSpPr/>
          <p:nvPr/>
        </p:nvSpPr>
        <p:spPr>
          <a:xfrm>
            <a:off x="4800600" y="1645920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6" name="Text 34"/>
          <p:cNvSpPr/>
          <p:nvPr/>
        </p:nvSpPr>
        <p:spPr>
          <a:xfrm>
            <a:off x="5102352" y="15727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Modificación de security groups sin ticket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800600" y="2112264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8" name="Text 36"/>
          <p:cNvSpPr/>
          <p:nvPr/>
        </p:nvSpPr>
        <p:spPr>
          <a:xfrm>
            <a:off x="5102352" y="203911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Adición de nuevas funciones Lambda al stack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800600" y="2578608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0" name="Text 38"/>
          <p:cNvSpPr/>
          <p:nvPr/>
        </p:nvSpPr>
        <p:spPr>
          <a:xfrm>
            <a:off x="5102352" y="250545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Incorporación de nuevas tablas DynamoDB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800600" y="3044952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2" name="Text 40"/>
          <p:cNvSpPr/>
          <p:nvPr/>
        </p:nvSpPr>
        <p:spPr>
          <a:xfrm>
            <a:off x="5102352" y="29718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IAM </a:t>
            </a:r>
            <a:r>
              <a:rPr lang="en-US" sz="115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predefinida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800600" y="3511296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4" name="Text 42"/>
          <p:cNvSpPr/>
          <p:nvPr/>
        </p:nvSpPr>
        <p:spPr>
          <a:xfrm>
            <a:off x="5102352" y="34381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Adición de microservicios con su propia VPC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4800600" y="3977640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6" name="Text 44"/>
          <p:cNvSpPr/>
          <p:nvPr/>
        </p:nvSpPr>
        <p:spPr>
          <a:xfrm>
            <a:off x="5102352" y="39044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del owner y costo de cada recurso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800600" y="4443984"/>
            <a:ext cx="201168" cy="20116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8" name="Text 46"/>
          <p:cNvSpPr/>
          <p:nvPr/>
        </p:nvSpPr>
        <p:spPr>
          <a:xfrm>
            <a:off x="5102352" y="43708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drift automática post-despliegue</a:t>
            </a:r>
            <a:endParaRPr lang="en-US" sz="115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481328"/>
            <a:ext cx="310896" cy="310896"/>
          </a:xfrm>
          <a:prstGeom prst="rect">
            <a:avLst/>
          </a:prstGeom>
        </p:spPr>
      </p:pic>
      <p:pic>
        <p:nvPicPr>
          <p:cNvPr id="5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3785616"/>
            <a:ext cx="310896" cy="310896"/>
          </a:xfrm>
          <a:prstGeom prst="rect">
            <a:avLst/>
          </a:prstGeom>
        </p:spPr>
      </p:pic>
      <p:pic>
        <p:nvPicPr>
          <p:cNvPr id="5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4361688"/>
            <a:ext cx="310896" cy="310896"/>
          </a:xfrm>
          <a:prstGeom prst="rect">
            <a:avLst/>
          </a:prstGeom>
        </p:spPr>
      </p:pic>
      <p:pic>
        <p:nvPicPr>
          <p:cNvPr id="5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" y="2633472"/>
            <a:ext cx="310896" cy="310896"/>
          </a:xfrm>
          <a:prstGeom prst="rect">
            <a:avLst/>
          </a:prstGeom>
        </p:spPr>
      </p:pic>
      <p:pic>
        <p:nvPicPr>
          <p:cNvPr id="5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" y="3209544"/>
            <a:ext cx="310896" cy="310896"/>
          </a:xfrm>
          <a:prstGeom prst="rect">
            <a:avLst/>
          </a:prstGeom>
        </p:spPr>
      </p:pic>
      <p:pic>
        <p:nvPicPr>
          <p:cNvPr id="5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" y="2057400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Port como IDP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portal que abstrae la complejidad de AWS para todos los developers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8595360" cy="621792"/>
          </a:xfrm>
          <a:prstGeom prst="rect">
            <a:avLst/>
          </a:prstGeom>
          <a:solidFill>
            <a:srgbClr val="1B3A5C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" name="Text 6"/>
          <p:cNvSpPr/>
          <p:nvPr/>
        </p:nvSpPr>
        <p:spPr>
          <a:xfrm>
            <a:off x="274320" y="105156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 →  IDP  →  CloudFormation  →  AWS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4320" y="1828800"/>
            <a:ext cx="2743200" cy="3090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0" name="Shape 8"/>
          <p:cNvSpPr/>
          <p:nvPr/>
        </p:nvSpPr>
        <p:spPr>
          <a:xfrm>
            <a:off x="274320" y="1828800"/>
            <a:ext cx="2743200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1" name="Text 9"/>
          <p:cNvSpPr/>
          <p:nvPr/>
        </p:nvSpPr>
        <p:spPr>
          <a:xfrm>
            <a:off x="411480" y="18836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templates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" y="2532888"/>
            <a:ext cx="164592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3" name="Text 11"/>
          <p:cNvSpPr/>
          <p:nvPr/>
        </p:nvSpPr>
        <p:spPr>
          <a:xfrm>
            <a:off x="694944" y="2450592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self-service en Port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8912" y="3136392"/>
            <a:ext cx="164592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5" name="Text 13"/>
          <p:cNvSpPr/>
          <p:nvPr/>
        </p:nvSpPr>
        <p:spPr>
          <a:xfrm>
            <a:off x="694944" y="3054096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Parámetros: servicio, región, env, Lambdas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3739896"/>
            <a:ext cx="164592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7" name="Text 15"/>
          <p:cNvSpPr/>
          <p:nvPr/>
        </p:nvSpPr>
        <p:spPr>
          <a:xfrm>
            <a:off x="694944" y="3657600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naming y tagging automática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38912" y="4343400"/>
            <a:ext cx="164592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9" name="Text 17"/>
          <p:cNvSpPr/>
          <p:nvPr/>
        </p:nvSpPr>
        <p:spPr>
          <a:xfrm>
            <a:off x="694944" y="4261104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path estandarizado para toda la org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72968" y="1828800"/>
            <a:ext cx="2743200" cy="3090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1" name="Shape 19"/>
          <p:cNvSpPr/>
          <p:nvPr/>
        </p:nvSpPr>
        <p:spPr>
          <a:xfrm>
            <a:off x="3172968" y="1828800"/>
            <a:ext cx="2743200" cy="475488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2" name="Text 20"/>
          <p:cNvSpPr/>
          <p:nvPr/>
        </p:nvSpPr>
        <p:spPr>
          <a:xfrm>
            <a:off x="3310128" y="18836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Guardarraíles y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automático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37560" y="2532888"/>
            <a:ext cx="164592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4" name="Text 22"/>
          <p:cNvSpPr/>
          <p:nvPr/>
        </p:nvSpPr>
        <p:spPr>
          <a:xfrm>
            <a:off x="3593592" y="2450592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cfn-guard valida políticas antes del deploy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37560" y="3136392"/>
            <a:ext cx="164592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Text 24"/>
          <p:cNvSpPr/>
          <p:nvPr/>
        </p:nvSpPr>
        <p:spPr>
          <a:xfrm>
            <a:off x="3593592" y="3054096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SCPs enforceadas por AWS Organizations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337560" y="3739896"/>
            <a:ext cx="164592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8" name="Text 26"/>
          <p:cNvSpPr/>
          <p:nvPr/>
        </p:nvSpPr>
        <p:spPr>
          <a:xfrm>
            <a:off x="3593592" y="3657600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least privilege por defecto en templates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37560" y="4343400"/>
            <a:ext cx="164592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0" name="Text 28"/>
          <p:cNvSpPr/>
          <p:nvPr/>
        </p:nvSpPr>
        <p:spPr>
          <a:xfrm>
            <a:off x="3593592" y="4261104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Cuotas y budget alerts por squad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071616" y="1828800"/>
            <a:ext cx="2743200" cy="309067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2" name="Shape 30"/>
          <p:cNvSpPr/>
          <p:nvPr/>
        </p:nvSpPr>
        <p:spPr>
          <a:xfrm>
            <a:off x="6071616" y="1828800"/>
            <a:ext cx="274320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3" name="Text 31"/>
          <p:cNvSpPr/>
          <p:nvPr/>
        </p:nvSpPr>
        <p:spPr>
          <a:xfrm>
            <a:off x="6208776" y="188366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y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36208" y="2532888"/>
            <a:ext cx="164592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5" name="Text 33"/>
          <p:cNvSpPr/>
          <p:nvPr/>
        </p:nvSpPr>
        <p:spPr>
          <a:xfrm>
            <a:off x="6492240" y="2450592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servicios con dueño claro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36208" y="3136392"/>
            <a:ext cx="164592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7" name="Text 35"/>
          <p:cNvSpPr/>
          <p:nvPr/>
        </p:nvSpPr>
        <p:spPr>
          <a:xfrm>
            <a:off x="6492240" y="3054096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detection post-aprovisionamiento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236208" y="3739896"/>
            <a:ext cx="164592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9" name="Text 37"/>
          <p:cNvSpPr/>
          <p:nvPr/>
        </p:nvSpPr>
        <p:spPr>
          <a:xfrm>
            <a:off x="6492240" y="3657600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tags automáticos por stack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236208" y="4343400"/>
            <a:ext cx="164592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1" name="Text 39"/>
          <p:cNvSpPr/>
          <p:nvPr/>
        </p:nvSpPr>
        <p:spPr>
          <a:xfrm>
            <a:off x="6492240" y="4261104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integrado desde el día 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entrega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GitHub Actions · flujo GitOps end-to-end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58368"/>
            <a:ext cx="914400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Shape 4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534705" y="1664208"/>
            <a:ext cx="1298448" cy="1719072"/>
          </a:xfrm>
          <a:prstGeom prst="rect">
            <a:avLst/>
          </a:prstGeom>
          <a:solidFill>
            <a:srgbClr val="1A2E45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" name="Shape 7"/>
          <p:cNvSpPr/>
          <p:nvPr/>
        </p:nvSpPr>
        <p:spPr>
          <a:xfrm>
            <a:off x="1534705" y="1664208"/>
            <a:ext cx="1298448" cy="7315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0" name="Text 8"/>
          <p:cNvSpPr/>
          <p:nvPr/>
        </p:nvSpPr>
        <p:spPr>
          <a:xfrm>
            <a:off x="1607857" y="1810512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07857" y="2139696"/>
            <a:ext cx="11521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dispara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workflow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07857" y="2761488"/>
            <a:ext cx="1152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en el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IDP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833153" y="2468880"/>
            <a:ext cx="164592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4" name="Shape 12"/>
          <p:cNvSpPr/>
          <p:nvPr/>
        </p:nvSpPr>
        <p:spPr>
          <a:xfrm>
            <a:off x="2997745" y="1664208"/>
            <a:ext cx="1298448" cy="1719072"/>
          </a:xfrm>
          <a:prstGeom prst="rect">
            <a:avLst/>
          </a:prstGeom>
          <a:solidFill>
            <a:srgbClr val="1A2E45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5" name="Shape 13"/>
          <p:cNvSpPr/>
          <p:nvPr/>
        </p:nvSpPr>
        <p:spPr>
          <a:xfrm>
            <a:off x="2997745" y="1664208"/>
            <a:ext cx="1298448" cy="7315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6" name="Text 14"/>
          <p:cNvSpPr/>
          <p:nvPr/>
        </p:nvSpPr>
        <p:spPr>
          <a:xfrm>
            <a:off x="3070897" y="1810512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070897" y="2139696"/>
            <a:ext cx="11521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evento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70897" y="2761488"/>
            <a:ext cx="1152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→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workflow.yml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296193" y="2468880"/>
            <a:ext cx="164592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0" name="Shape 18"/>
          <p:cNvSpPr/>
          <p:nvPr/>
        </p:nvSpPr>
        <p:spPr>
          <a:xfrm>
            <a:off x="4460785" y="1664208"/>
            <a:ext cx="1298448" cy="1719072"/>
          </a:xfrm>
          <a:prstGeom prst="rect">
            <a:avLst/>
          </a:prstGeom>
          <a:solidFill>
            <a:srgbClr val="1A2E45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1" name="Shape 19"/>
          <p:cNvSpPr/>
          <p:nvPr/>
        </p:nvSpPr>
        <p:spPr>
          <a:xfrm>
            <a:off x="4460785" y="1664208"/>
            <a:ext cx="1298448" cy="7315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2" name="Text 20"/>
          <p:cNvSpPr/>
          <p:nvPr/>
        </p:nvSpPr>
        <p:spPr>
          <a:xfrm>
            <a:off x="4533937" y="1810512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33937" y="2139696"/>
            <a:ext cx="11521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template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CFN (Jinja2)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33937" y="2761488"/>
            <a:ext cx="1152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 →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YAML/JSON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759233" y="2468880"/>
            <a:ext cx="164592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Shape 24"/>
          <p:cNvSpPr/>
          <p:nvPr/>
        </p:nvSpPr>
        <p:spPr>
          <a:xfrm>
            <a:off x="5923825" y="1664208"/>
            <a:ext cx="1298448" cy="1719072"/>
          </a:xfrm>
          <a:prstGeom prst="rect">
            <a:avLst/>
          </a:prstGeom>
          <a:solidFill>
            <a:srgbClr val="1A2E45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7" name="Shape 25"/>
          <p:cNvSpPr/>
          <p:nvPr/>
        </p:nvSpPr>
        <p:spPr>
          <a:xfrm>
            <a:off x="5923825" y="1664208"/>
            <a:ext cx="129844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8" name="Text 26"/>
          <p:cNvSpPr/>
          <p:nvPr/>
        </p:nvSpPr>
        <p:spPr>
          <a:xfrm>
            <a:off x="5996977" y="1810512"/>
            <a:ext cx="1152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6070129" y="2134343"/>
            <a:ext cx="115214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deploy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Service Cat.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074961" y="2781300"/>
            <a:ext cx="1152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Create/update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F95F1C-995A-230B-9D02-326BC3B31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DF7EE0-C2E5-A38E-CA0A-F29F393198E5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8B1B3DD-CDD5-164D-4017-049767E52F18}"/>
              </a:ext>
            </a:extLst>
          </p:cNvPr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A53BE6-7CF2-8100-FD5D-D33D4D5913F3}"/>
              </a:ext>
            </a:extLst>
          </p:cNvPr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GitHub Actions · flujo GitOps end-to-end</a:t>
            </a:r>
            <a:endParaRPr lang="en-US" sz="1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4155953-8719-9A85-364F-8D17B1D0E45B}"/>
              </a:ext>
            </a:extLst>
          </p:cNvPr>
          <p:cNvSpPr/>
          <p:nvPr/>
        </p:nvSpPr>
        <p:spPr>
          <a:xfrm>
            <a:off x="0" y="658368"/>
            <a:ext cx="914400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4387DA7-DD21-C06E-EC69-B86E58B6C5A8}"/>
              </a:ext>
            </a:extLst>
          </p:cNvPr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86971CA-D044-5F0E-7C9A-59BBF01F6A4B}"/>
              </a:ext>
            </a:extLst>
          </p:cNvPr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grpSp>
        <p:nvGrpSpPr>
          <p:cNvPr id="32" name="Graphic 29">
            <a:extLst>
              <a:ext uri="{FF2B5EF4-FFF2-40B4-BE49-F238E27FC236}">
                <a16:creationId xmlns:a16="http://schemas.microsoft.com/office/drawing/2014/main" id="{A9892AC0-3A04-8C58-C79E-7599B56FB7E4}"/>
              </a:ext>
            </a:extLst>
          </p:cNvPr>
          <p:cNvGrpSpPr/>
          <p:nvPr/>
        </p:nvGrpSpPr>
        <p:grpSpPr>
          <a:xfrm>
            <a:off x="1524000" y="2433828"/>
            <a:ext cx="1048658" cy="533400"/>
            <a:chOff x="1524000" y="2433828"/>
            <a:chExt cx="1048658" cy="533400"/>
          </a:xfrm>
        </p:grpSpPr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BBD52BE8-75EF-2B8A-F66C-E5FC0F4AE634}"/>
                </a:ext>
              </a:extLst>
            </p:cNvPr>
            <p:cNvSpPr/>
            <p:nvPr/>
          </p:nvSpPr>
          <p:spPr>
            <a:xfrm>
              <a:off x="1524000" y="2433828"/>
              <a:ext cx="1047750" cy="533400"/>
            </a:xfrm>
            <a:custGeom>
              <a:avLst/>
              <a:gdLst>
                <a:gd name="csX0" fmla="*/ 971550 w 1047750"/>
                <a:gd name="csY0" fmla="*/ 0 h 533400"/>
                <a:gd name="csX1" fmla="*/ 1047750 w 1047750"/>
                <a:gd name="csY1" fmla="*/ 0 h 533400"/>
                <a:gd name="csX2" fmla="*/ 1047750 w 1047750"/>
                <a:gd name="csY2" fmla="*/ 533400 h 533400"/>
                <a:gd name="csX3" fmla="*/ 971550 w 1047750"/>
                <a:gd name="csY3" fmla="*/ 533400 h 533400"/>
                <a:gd name="csX4" fmla="*/ 76200 w 1047750"/>
                <a:gd name="csY4" fmla="*/ 533400 h 533400"/>
                <a:gd name="csX5" fmla="*/ 0 w 1047750"/>
                <a:gd name="csY5" fmla="*/ 533400 h 533400"/>
                <a:gd name="csX6" fmla="*/ 0 w 1047750"/>
                <a:gd name="csY6" fmla="*/ 0 h 533400"/>
                <a:gd name="csX7" fmla="*/ 76200 w 1047750"/>
                <a:gd name="csY7" fmla="*/ 0 h 533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047750" h="533400">
                  <a:moveTo>
                    <a:pt x="971550" y="0"/>
                  </a:moveTo>
                  <a:cubicBezTo>
                    <a:pt x="1013634" y="0"/>
                    <a:pt x="1047750" y="0"/>
                    <a:pt x="1047750" y="0"/>
                  </a:cubicBezTo>
                  <a:lnTo>
                    <a:pt x="1047750" y="533400"/>
                  </a:lnTo>
                  <a:cubicBezTo>
                    <a:pt x="1047750" y="533400"/>
                    <a:pt x="1013634" y="533400"/>
                    <a:pt x="971550" y="533400"/>
                  </a:cubicBezTo>
                  <a:lnTo>
                    <a:pt x="76200" y="533400"/>
                  </a:lnTo>
                  <a:cubicBezTo>
                    <a:pt x="34116" y="533400"/>
                    <a:pt x="0" y="533400"/>
                    <a:pt x="0" y="533400"/>
                  </a:cubicBezTo>
                  <a:lnTo>
                    <a:pt x="0" y="0"/>
                  </a:lnTo>
                  <a:cubicBezTo>
                    <a:pt x="0" y="0"/>
                    <a:pt x="34116" y="0"/>
                    <a:pt x="76200" y="0"/>
                  </a:cubicBezTo>
                  <a:close/>
                </a:path>
              </a:pathLst>
            </a:custGeom>
            <a:solidFill>
              <a:srgbClr val="3C3489"/>
            </a:solidFill>
            <a:ln w="4763" cap="flat">
              <a:solidFill>
                <a:srgbClr val="AFA9EC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0E6F573-50E2-48C7-EBE8-A43A3C5E6E20}"/>
                </a:ext>
              </a:extLst>
            </p:cNvPr>
            <p:cNvSpPr txBox="1"/>
            <p:nvPr/>
          </p:nvSpPr>
          <p:spPr>
            <a:xfrm>
              <a:off x="1581681" y="2434709"/>
              <a:ext cx="99097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 dirty="0">
                  <a:ln/>
                  <a:solidFill>
                    <a:srgbClr val="CECBF6"/>
                  </a:solidFill>
                  <a:latin typeface="Segoe UI"/>
                  <a:cs typeface="Segoe UI"/>
                  <a:sym typeface="Segoe UI"/>
                  <a:rtl val="0"/>
                </a:rPr>
                <a:t>Devs/DevOps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A6DF614-7E6B-1EE3-D430-E840DA042EBD}"/>
                </a:ext>
              </a:extLst>
            </p:cNvPr>
            <p:cNvSpPr txBox="1"/>
            <p:nvPr/>
          </p:nvSpPr>
          <p:spPr>
            <a:xfrm>
              <a:off x="1558868" y="2645766"/>
              <a:ext cx="978012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AFA9EC"/>
                  </a:solidFill>
                  <a:latin typeface="Segoe UI"/>
                  <a:cs typeface="Segoe UI"/>
                  <a:sym typeface="Segoe UI"/>
                  <a:rtl val="0"/>
                </a:rPr>
                <a:t>llena formulario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BF265722-777D-D924-FFE9-DA9FB7D5EBAE}"/>
              </a:ext>
            </a:extLst>
          </p:cNvPr>
          <p:cNvSpPr/>
          <p:nvPr/>
        </p:nvSpPr>
        <p:spPr>
          <a:xfrm>
            <a:off x="2571750" y="2700528"/>
            <a:ext cx="266700" cy="9525"/>
          </a:xfrm>
          <a:custGeom>
            <a:avLst/>
            <a:gdLst>
              <a:gd name="csX0" fmla="*/ 0 w 266700"/>
              <a:gd name="csY0" fmla="*/ 0 h 9525"/>
              <a:gd name="csX1" fmla="*/ 266700 w 266700"/>
              <a:gd name="csY1" fmla="*/ 0 h 9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ln w="14288" cap="flat">
            <a:solidFill>
              <a:srgbClr val="9C9A92"/>
            </a:solidFill>
            <a:prstDash val="solid"/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81F3D040-A865-AB4A-37DA-0299903B2B78}"/>
              </a:ext>
            </a:extLst>
          </p:cNvPr>
          <p:cNvSpPr/>
          <p:nvPr/>
        </p:nvSpPr>
        <p:spPr>
          <a:xfrm>
            <a:off x="2857500" y="1005078"/>
            <a:ext cx="2286000" cy="3429000"/>
          </a:xfrm>
          <a:custGeom>
            <a:avLst/>
            <a:gdLst>
              <a:gd name="csX0" fmla="*/ 2152650 w 2286000"/>
              <a:gd name="csY0" fmla="*/ 0 h 3429000"/>
              <a:gd name="csX1" fmla="*/ 2286000 w 2286000"/>
              <a:gd name="csY1" fmla="*/ 0 h 3429000"/>
              <a:gd name="csX2" fmla="*/ 2286000 w 2286000"/>
              <a:gd name="csY2" fmla="*/ 3429000 h 3429000"/>
              <a:gd name="csX3" fmla="*/ 2152650 w 2286000"/>
              <a:gd name="csY3" fmla="*/ 3429000 h 3429000"/>
              <a:gd name="csX4" fmla="*/ 133350 w 2286000"/>
              <a:gd name="csY4" fmla="*/ 3429000 h 3429000"/>
              <a:gd name="csX5" fmla="*/ 0 w 2286000"/>
              <a:gd name="csY5" fmla="*/ 3429000 h 3429000"/>
              <a:gd name="csX6" fmla="*/ 0 w 2286000"/>
              <a:gd name="csY6" fmla="*/ 0 h 3429000"/>
              <a:gd name="csX7" fmla="*/ 133350 w 2286000"/>
              <a:gd name="csY7" fmla="*/ 0 h 3429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286000" h="3429000">
                <a:moveTo>
                  <a:pt x="2152650" y="0"/>
                </a:moveTo>
                <a:cubicBezTo>
                  <a:pt x="2226297" y="0"/>
                  <a:pt x="2286000" y="0"/>
                  <a:pt x="2286000" y="0"/>
                </a:cubicBezTo>
                <a:lnTo>
                  <a:pt x="2286000" y="3429000"/>
                </a:lnTo>
                <a:cubicBezTo>
                  <a:pt x="2286000" y="3429000"/>
                  <a:pt x="2226297" y="3429000"/>
                  <a:pt x="2152650" y="3429000"/>
                </a:cubicBezTo>
                <a:lnTo>
                  <a:pt x="133350" y="3429000"/>
                </a:lnTo>
                <a:cubicBezTo>
                  <a:pt x="59703" y="3429000"/>
                  <a:pt x="0" y="3429000"/>
                  <a:pt x="0" y="3429000"/>
                </a:cubicBezTo>
                <a:lnTo>
                  <a:pt x="0" y="0"/>
                </a:lnTo>
                <a:cubicBezTo>
                  <a:pt x="0" y="0"/>
                  <a:pt x="59703" y="0"/>
                  <a:pt x="133350" y="0"/>
                </a:cubicBezTo>
                <a:close/>
              </a:path>
            </a:pathLst>
          </a:custGeom>
          <a:noFill/>
          <a:ln w="4763" cap="flat">
            <a:solidFill>
              <a:srgbClr val="DEDCD1"/>
            </a:solidFill>
            <a:custDash>
              <a:ds d="375000" sp="300000"/>
            </a:custDash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935746-AF3D-85F1-C367-8B470A1DA44E}"/>
              </a:ext>
            </a:extLst>
          </p:cNvPr>
          <p:cNvSpPr txBox="1"/>
          <p:nvPr/>
        </p:nvSpPr>
        <p:spPr>
          <a:xfrm>
            <a:off x="3703509" y="759816"/>
            <a:ext cx="593980" cy="2434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O" sz="900" spc="0" baseline="0">
                <a:ln/>
                <a:solidFill>
                  <a:srgbClr val="C2C0B6"/>
                </a:solidFill>
                <a:latin typeface="Segoe UI"/>
                <a:cs typeface="Segoe UI"/>
                <a:sym typeface="Segoe UI"/>
                <a:rtl val="0"/>
              </a:rPr>
              <a:t>Port IDP</a:t>
            </a:r>
          </a:p>
        </p:txBody>
      </p:sp>
      <p:grpSp>
        <p:nvGrpSpPr>
          <p:cNvPr id="39" name="Graphic 29">
            <a:extLst>
              <a:ext uri="{FF2B5EF4-FFF2-40B4-BE49-F238E27FC236}">
                <a16:creationId xmlns:a16="http://schemas.microsoft.com/office/drawing/2014/main" id="{E22A0631-7BF1-DC35-4B4D-0520E69AC5E6}"/>
              </a:ext>
            </a:extLst>
          </p:cNvPr>
          <p:cNvGrpSpPr/>
          <p:nvPr/>
        </p:nvGrpSpPr>
        <p:grpSpPr>
          <a:xfrm>
            <a:off x="3000375" y="1195578"/>
            <a:ext cx="2000250" cy="419100"/>
            <a:chOff x="3000375" y="1195578"/>
            <a:chExt cx="2000250" cy="419100"/>
          </a:xfrm>
        </p:grpSpPr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5156B8E5-0672-6FD6-BAD3-01F01E9685AF}"/>
                </a:ext>
              </a:extLst>
            </p:cNvPr>
            <p:cNvSpPr/>
            <p:nvPr/>
          </p:nvSpPr>
          <p:spPr>
            <a:xfrm>
              <a:off x="3000375" y="1195578"/>
              <a:ext cx="2000250" cy="419100"/>
            </a:xfrm>
            <a:custGeom>
              <a:avLst/>
              <a:gdLst>
                <a:gd name="csX0" fmla="*/ 1943100 w 2000250"/>
                <a:gd name="csY0" fmla="*/ 0 h 419100"/>
                <a:gd name="csX1" fmla="*/ 2000250 w 2000250"/>
                <a:gd name="csY1" fmla="*/ 0 h 419100"/>
                <a:gd name="csX2" fmla="*/ 2000250 w 2000250"/>
                <a:gd name="csY2" fmla="*/ 419100 h 419100"/>
                <a:gd name="csX3" fmla="*/ 1943100 w 2000250"/>
                <a:gd name="csY3" fmla="*/ 419100 h 419100"/>
                <a:gd name="csX4" fmla="*/ 57150 w 2000250"/>
                <a:gd name="csY4" fmla="*/ 419100 h 419100"/>
                <a:gd name="csX5" fmla="*/ 0 w 2000250"/>
                <a:gd name="csY5" fmla="*/ 419100 h 419100"/>
                <a:gd name="csX6" fmla="*/ 0 w 2000250"/>
                <a:gd name="csY6" fmla="*/ 0 h 419100"/>
                <a:gd name="csX7" fmla="*/ 57150 w 20002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00250" h="419100">
                  <a:moveTo>
                    <a:pt x="1943100" y="0"/>
                  </a:moveTo>
                  <a:cubicBezTo>
                    <a:pt x="1974663" y="0"/>
                    <a:pt x="2000250" y="0"/>
                    <a:pt x="2000250" y="0"/>
                  </a:cubicBezTo>
                  <a:lnTo>
                    <a:pt x="2000250" y="419100"/>
                  </a:lnTo>
                  <a:cubicBezTo>
                    <a:pt x="2000250" y="419100"/>
                    <a:pt x="1974663" y="419100"/>
                    <a:pt x="19431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085041"/>
            </a:solidFill>
            <a:ln w="4763" cap="flat">
              <a:solidFill>
                <a:srgbClr val="5DCAA5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04BF540-D216-61F0-48CC-CBFEDB742A5E}"/>
                </a:ext>
              </a:extLst>
            </p:cNvPr>
            <p:cNvSpPr txBox="1"/>
            <p:nvPr/>
          </p:nvSpPr>
          <p:spPr>
            <a:xfrm>
              <a:off x="3222092" y="1177409"/>
              <a:ext cx="1556814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9FE1CB"/>
                  </a:solidFill>
                  <a:latin typeface="Segoe UI"/>
                  <a:cs typeface="Segoe UI"/>
                  <a:sym typeface="Segoe UI"/>
                  <a:rtl val="0"/>
                </a:rPr>
                <a:t>Blueprint AWSResource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C4BF7B3-5523-D693-3075-C011B56A7789}"/>
                </a:ext>
              </a:extLst>
            </p:cNvPr>
            <p:cNvSpPr txBox="1"/>
            <p:nvPr/>
          </p:nvSpPr>
          <p:spPr>
            <a:xfrm>
              <a:off x="3232552" y="1350366"/>
              <a:ext cx="1535895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5DCAA5"/>
                  </a:solidFill>
                  <a:latin typeface="Segoe UI"/>
                  <a:cs typeface="Segoe UI"/>
                  <a:sym typeface="Segoe UI"/>
                  <a:rtl val="0"/>
                </a:rPr>
                <a:t>VPC · DynamoDB · Lambda</a:t>
              </a:r>
            </a:p>
          </p:txBody>
        </p:sp>
      </p:grpSp>
      <p:grpSp>
        <p:nvGrpSpPr>
          <p:cNvPr id="45" name="Graphic 29">
            <a:extLst>
              <a:ext uri="{FF2B5EF4-FFF2-40B4-BE49-F238E27FC236}">
                <a16:creationId xmlns:a16="http://schemas.microsoft.com/office/drawing/2014/main" id="{14ECE6FB-C201-D911-AB67-F889550D5864}"/>
              </a:ext>
            </a:extLst>
          </p:cNvPr>
          <p:cNvGrpSpPr/>
          <p:nvPr/>
        </p:nvGrpSpPr>
        <p:grpSpPr>
          <a:xfrm>
            <a:off x="3000375" y="1786128"/>
            <a:ext cx="2000250" cy="419100"/>
            <a:chOff x="3000375" y="1786128"/>
            <a:chExt cx="2000250" cy="419100"/>
          </a:xfrm>
        </p:grpSpPr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9321F04-B0EB-2C84-861A-A5267B3EF260}"/>
                </a:ext>
              </a:extLst>
            </p:cNvPr>
            <p:cNvSpPr/>
            <p:nvPr/>
          </p:nvSpPr>
          <p:spPr>
            <a:xfrm>
              <a:off x="3000375" y="1786128"/>
              <a:ext cx="2000250" cy="419100"/>
            </a:xfrm>
            <a:custGeom>
              <a:avLst/>
              <a:gdLst>
                <a:gd name="csX0" fmla="*/ 1943100 w 2000250"/>
                <a:gd name="csY0" fmla="*/ 0 h 419100"/>
                <a:gd name="csX1" fmla="*/ 2000250 w 2000250"/>
                <a:gd name="csY1" fmla="*/ 0 h 419100"/>
                <a:gd name="csX2" fmla="*/ 2000250 w 2000250"/>
                <a:gd name="csY2" fmla="*/ 419100 h 419100"/>
                <a:gd name="csX3" fmla="*/ 1943100 w 2000250"/>
                <a:gd name="csY3" fmla="*/ 419100 h 419100"/>
                <a:gd name="csX4" fmla="*/ 57150 w 2000250"/>
                <a:gd name="csY4" fmla="*/ 419100 h 419100"/>
                <a:gd name="csX5" fmla="*/ 0 w 2000250"/>
                <a:gd name="csY5" fmla="*/ 419100 h 419100"/>
                <a:gd name="csX6" fmla="*/ 0 w 2000250"/>
                <a:gd name="csY6" fmla="*/ 0 h 419100"/>
                <a:gd name="csX7" fmla="*/ 57150 w 20002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00250" h="419100">
                  <a:moveTo>
                    <a:pt x="1943100" y="0"/>
                  </a:moveTo>
                  <a:cubicBezTo>
                    <a:pt x="1974663" y="0"/>
                    <a:pt x="2000250" y="0"/>
                    <a:pt x="2000250" y="0"/>
                  </a:cubicBezTo>
                  <a:lnTo>
                    <a:pt x="2000250" y="419100"/>
                  </a:lnTo>
                  <a:cubicBezTo>
                    <a:pt x="2000250" y="419100"/>
                    <a:pt x="1974663" y="419100"/>
                    <a:pt x="19431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085041"/>
            </a:solidFill>
            <a:ln w="4763" cap="flat">
              <a:solidFill>
                <a:srgbClr val="5DCAA5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FEF09A0-2AEB-D5E7-54F0-2E64DFF2B354}"/>
                </a:ext>
              </a:extLst>
            </p:cNvPr>
            <p:cNvSpPr txBox="1"/>
            <p:nvPr/>
          </p:nvSpPr>
          <p:spPr>
            <a:xfrm>
              <a:off x="3376473" y="1767959"/>
              <a:ext cx="1248052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9FE1CB"/>
                  </a:solidFill>
                  <a:latin typeface="Segoe UI"/>
                  <a:cs typeface="Segoe UI"/>
                  <a:sym typeface="Segoe UI"/>
                  <a:rtl val="0"/>
                </a:rPr>
                <a:t>Self-service action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472DF35-A585-0B55-9E16-2E1C906E7117}"/>
                </a:ext>
              </a:extLst>
            </p:cNvPr>
            <p:cNvSpPr txBox="1"/>
            <p:nvPr/>
          </p:nvSpPr>
          <p:spPr>
            <a:xfrm>
              <a:off x="3188099" y="1940916"/>
              <a:ext cx="1624801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5DCAA5"/>
                  </a:solidFill>
                  <a:latin typeface="Segoe UI"/>
                  <a:cs typeface="Segoe UI"/>
                  <a:sym typeface="Segoe UI"/>
                  <a:rtl val="0"/>
                </a:rPr>
                <a:t>Formulario de variables AWS</a:t>
              </a:r>
            </a:p>
          </p:txBody>
        </p:sp>
      </p:grpSp>
      <p:grpSp>
        <p:nvGrpSpPr>
          <p:cNvPr id="49" name="Graphic 29">
            <a:extLst>
              <a:ext uri="{FF2B5EF4-FFF2-40B4-BE49-F238E27FC236}">
                <a16:creationId xmlns:a16="http://schemas.microsoft.com/office/drawing/2014/main" id="{272E46F2-8661-36A2-6C20-EB3A904F10D0}"/>
              </a:ext>
            </a:extLst>
          </p:cNvPr>
          <p:cNvGrpSpPr/>
          <p:nvPr/>
        </p:nvGrpSpPr>
        <p:grpSpPr>
          <a:xfrm>
            <a:off x="3000375" y="2376678"/>
            <a:ext cx="2000250" cy="419100"/>
            <a:chOff x="3000375" y="2376678"/>
            <a:chExt cx="2000250" cy="419100"/>
          </a:xfrm>
        </p:grpSpPr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FF60D96-8034-EFA1-12BD-71A842DCCE43}"/>
                </a:ext>
              </a:extLst>
            </p:cNvPr>
            <p:cNvSpPr/>
            <p:nvPr/>
          </p:nvSpPr>
          <p:spPr>
            <a:xfrm>
              <a:off x="3000375" y="2376678"/>
              <a:ext cx="2000250" cy="419100"/>
            </a:xfrm>
            <a:custGeom>
              <a:avLst/>
              <a:gdLst>
                <a:gd name="csX0" fmla="*/ 1943100 w 2000250"/>
                <a:gd name="csY0" fmla="*/ 0 h 419100"/>
                <a:gd name="csX1" fmla="*/ 2000250 w 2000250"/>
                <a:gd name="csY1" fmla="*/ 0 h 419100"/>
                <a:gd name="csX2" fmla="*/ 2000250 w 2000250"/>
                <a:gd name="csY2" fmla="*/ 419100 h 419100"/>
                <a:gd name="csX3" fmla="*/ 1943100 w 2000250"/>
                <a:gd name="csY3" fmla="*/ 419100 h 419100"/>
                <a:gd name="csX4" fmla="*/ 57150 w 2000250"/>
                <a:gd name="csY4" fmla="*/ 419100 h 419100"/>
                <a:gd name="csX5" fmla="*/ 0 w 2000250"/>
                <a:gd name="csY5" fmla="*/ 419100 h 419100"/>
                <a:gd name="csX6" fmla="*/ 0 w 2000250"/>
                <a:gd name="csY6" fmla="*/ 0 h 419100"/>
                <a:gd name="csX7" fmla="*/ 57150 w 20002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00250" h="419100">
                  <a:moveTo>
                    <a:pt x="1943100" y="0"/>
                  </a:moveTo>
                  <a:cubicBezTo>
                    <a:pt x="1974663" y="0"/>
                    <a:pt x="2000250" y="0"/>
                    <a:pt x="2000250" y="0"/>
                  </a:cubicBezTo>
                  <a:lnTo>
                    <a:pt x="2000250" y="419100"/>
                  </a:lnTo>
                  <a:cubicBezTo>
                    <a:pt x="2000250" y="419100"/>
                    <a:pt x="1974663" y="419100"/>
                    <a:pt x="19431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085041"/>
            </a:solidFill>
            <a:ln w="4763" cap="flat">
              <a:solidFill>
                <a:srgbClr val="5DCAA5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260E4C3F-E6D4-1022-9141-FD8503C6DA42}"/>
                </a:ext>
              </a:extLst>
            </p:cNvPr>
            <p:cNvSpPr txBox="1"/>
            <p:nvPr/>
          </p:nvSpPr>
          <p:spPr>
            <a:xfrm>
              <a:off x="3251653" y="2358509"/>
              <a:ext cx="1497692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9FE1CB"/>
                  </a:solidFill>
                  <a:latin typeface="Segoe UI"/>
                  <a:cs typeface="Segoe UI"/>
                  <a:sym typeface="Segoe UI"/>
                  <a:rtl val="0"/>
                </a:rPr>
                <a:t>Invoke GitHub Actions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EAB930D-A8AF-C5A8-6566-8C10648A3F26}"/>
                </a:ext>
              </a:extLst>
            </p:cNvPr>
            <p:cNvSpPr txBox="1"/>
            <p:nvPr/>
          </p:nvSpPr>
          <p:spPr>
            <a:xfrm>
              <a:off x="3217092" y="2531466"/>
              <a:ext cx="1566814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5DCAA5"/>
                  </a:solidFill>
                  <a:latin typeface="Segoe UI"/>
                  <a:cs typeface="Segoe UI"/>
                  <a:sym typeface="Segoe UI"/>
                  <a:rtl val="0"/>
                </a:rPr>
                <a:t>workflow_dispatch + inputs</a:t>
              </a:r>
            </a:p>
          </p:txBody>
        </p:sp>
      </p:grpSp>
      <p:grpSp>
        <p:nvGrpSpPr>
          <p:cNvPr id="53" name="Graphic 29">
            <a:extLst>
              <a:ext uri="{FF2B5EF4-FFF2-40B4-BE49-F238E27FC236}">
                <a16:creationId xmlns:a16="http://schemas.microsoft.com/office/drawing/2014/main" id="{4EE600AC-C360-439A-2668-A1F03CAB20B1}"/>
              </a:ext>
            </a:extLst>
          </p:cNvPr>
          <p:cNvGrpSpPr/>
          <p:nvPr/>
        </p:nvGrpSpPr>
        <p:grpSpPr>
          <a:xfrm>
            <a:off x="3000375" y="2967228"/>
            <a:ext cx="2000250" cy="419100"/>
            <a:chOff x="3000375" y="2967228"/>
            <a:chExt cx="2000250" cy="419100"/>
          </a:xfrm>
        </p:grpSpPr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1DDA32DC-2EE9-2831-28F6-EB067393A7E2}"/>
                </a:ext>
              </a:extLst>
            </p:cNvPr>
            <p:cNvSpPr/>
            <p:nvPr/>
          </p:nvSpPr>
          <p:spPr>
            <a:xfrm>
              <a:off x="3000375" y="2967228"/>
              <a:ext cx="2000250" cy="419100"/>
            </a:xfrm>
            <a:custGeom>
              <a:avLst/>
              <a:gdLst>
                <a:gd name="csX0" fmla="*/ 1943100 w 2000250"/>
                <a:gd name="csY0" fmla="*/ 0 h 419100"/>
                <a:gd name="csX1" fmla="*/ 2000250 w 2000250"/>
                <a:gd name="csY1" fmla="*/ 0 h 419100"/>
                <a:gd name="csX2" fmla="*/ 2000250 w 2000250"/>
                <a:gd name="csY2" fmla="*/ 419100 h 419100"/>
                <a:gd name="csX3" fmla="*/ 1943100 w 2000250"/>
                <a:gd name="csY3" fmla="*/ 419100 h 419100"/>
                <a:gd name="csX4" fmla="*/ 57150 w 2000250"/>
                <a:gd name="csY4" fmla="*/ 419100 h 419100"/>
                <a:gd name="csX5" fmla="*/ 0 w 2000250"/>
                <a:gd name="csY5" fmla="*/ 419100 h 419100"/>
                <a:gd name="csX6" fmla="*/ 0 w 2000250"/>
                <a:gd name="csY6" fmla="*/ 0 h 419100"/>
                <a:gd name="csX7" fmla="*/ 57150 w 20002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000250" h="419100">
                  <a:moveTo>
                    <a:pt x="1943100" y="0"/>
                  </a:moveTo>
                  <a:cubicBezTo>
                    <a:pt x="1974663" y="0"/>
                    <a:pt x="2000250" y="0"/>
                    <a:pt x="2000250" y="0"/>
                  </a:cubicBezTo>
                  <a:lnTo>
                    <a:pt x="2000250" y="419100"/>
                  </a:lnTo>
                  <a:cubicBezTo>
                    <a:pt x="2000250" y="419100"/>
                    <a:pt x="1974663" y="419100"/>
                    <a:pt x="19431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085041"/>
            </a:solidFill>
            <a:ln w="4763" cap="flat">
              <a:solidFill>
                <a:srgbClr val="5DCAA5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1DD4D181-FE42-2379-9051-8A9B0716E33E}"/>
                </a:ext>
              </a:extLst>
            </p:cNvPr>
            <p:cNvSpPr txBox="1"/>
            <p:nvPr/>
          </p:nvSpPr>
          <p:spPr>
            <a:xfrm>
              <a:off x="3205521" y="2949059"/>
              <a:ext cx="1589956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9FE1CB"/>
                  </a:solidFill>
                  <a:latin typeface="Segoe UI"/>
                  <a:cs typeface="Segoe UI"/>
                  <a:sym typeface="Segoe UI"/>
                  <a:rtl val="0"/>
                </a:rPr>
                <a:t>PATCH_RUN → catálogo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791C5EA-2D66-A826-15F3-FE9C30D6807B}"/>
                </a:ext>
              </a:extLst>
            </p:cNvPr>
            <p:cNvSpPr txBox="1"/>
            <p:nvPr/>
          </p:nvSpPr>
          <p:spPr>
            <a:xfrm>
              <a:off x="3316826" y="3122016"/>
              <a:ext cx="1367347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5DCAA5"/>
                  </a:solidFill>
                  <a:latin typeface="Segoe UI"/>
                  <a:cs typeface="Segoe UI"/>
                  <a:sym typeface="Segoe UI"/>
                  <a:rtl val="0"/>
                </a:rPr>
                <a:t>Registra recurso creado</a:t>
              </a:r>
            </a:p>
          </p:txBody>
        </p:sp>
      </p:grpSp>
      <p:sp>
        <p:nvSpPr>
          <p:cNvPr id="57" name="Freeform 56">
            <a:extLst>
              <a:ext uri="{FF2B5EF4-FFF2-40B4-BE49-F238E27FC236}">
                <a16:creationId xmlns:a16="http://schemas.microsoft.com/office/drawing/2014/main" id="{F39BED96-C773-FEFD-9DCB-B79A127EEEAA}"/>
              </a:ext>
            </a:extLst>
          </p:cNvPr>
          <p:cNvSpPr/>
          <p:nvPr/>
        </p:nvSpPr>
        <p:spPr>
          <a:xfrm>
            <a:off x="5143500" y="2586228"/>
            <a:ext cx="266700" cy="9525"/>
          </a:xfrm>
          <a:custGeom>
            <a:avLst/>
            <a:gdLst>
              <a:gd name="csX0" fmla="*/ 0 w 266700"/>
              <a:gd name="csY0" fmla="*/ 0 h 9525"/>
              <a:gd name="csX1" fmla="*/ 266700 w 266700"/>
              <a:gd name="csY1" fmla="*/ 0 h 9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ln w="14288" cap="flat">
            <a:solidFill>
              <a:srgbClr val="9C9A92"/>
            </a:solidFill>
            <a:prstDash val="solid"/>
            <a:miter/>
          </a:ln>
        </p:spPr>
        <p:txBody>
          <a:bodyPr/>
          <a:lstStyle/>
          <a:p>
            <a:endParaRPr lang="en-CO"/>
          </a:p>
        </p:txBody>
      </p:sp>
      <p:grpSp>
        <p:nvGrpSpPr>
          <p:cNvPr id="58" name="Graphic 29">
            <a:extLst>
              <a:ext uri="{FF2B5EF4-FFF2-40B4-BE49-F238E27FC236}">
                <a16:creationId xmlns:a16="http://schemas.microsoft.com/office/drawing/2014/main" id="{6CF8D3DB-2C73-D2C8-79D9-2E6560A9B33D}"/>
              </a:ext>
            </a:extLst>
          </p:cNvPr>
          <p:cNvGrpSpPr/>
          <p:nvPr/>
        </p:nvGrpSpPr>
        <p:grpSpPr>
          <a:xfrm>
            <a:off x="5429250" y="2376678"/>
            <a:ext cx="1047750" cy="419100"/>
            <a:chOff x="5429250" y="2376678"/>
            <a:chExt cx="1047750" cy="419100"/>
          </a:xfrm>
        </p:grpSpPr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7478D608-5004-6DFA-A0EA-839D3BA1C416}"/>
                </a:ext>
              </a:extLst>
            </p:cNvPr>
            <p:cNvSpPr/>
            <p:nvPr/>
          </p:nvSpPr>
          <p:spPr>
            <a:xfrm>
              <a:off x="5429250" y="2376678"/>
              <a:ext cx="1047750" cy="419100"/>
            </a:xfrm>
            <a:custGeom>
              <a:avLst/>
              <a:gdLst>
                <a:gd name="csX0" fmla="*/ 990600 w 1047750"/>
                <a:gd name="csY0" fmla="*/ 0 h 419100"/>
                <a:gd name="csX1" fmla="*/ 1047750 w 1047750"/>
                <a:gd name="csY1" fmla="*/ 0 h 419100"/>
                <a:gd name="csX2" fmla="*/ 1047750 w 1047750"/>
                <a:gd name="csY2" fmla="*/ 419100 h 419100"/>
                <a:gd name="csX3" fmla="*/ 990600 w 1047750"/>
                <a:gd name="csY3" fmla="*/ 419100 h 419100"/>
                <a:gd name="csX4" fmla="*/ 57150 w 1047750"/>
                <a:gd name="csY4" fmla="*/ 419100 h 419100"/>
                <a:gd name="csX5" fmla="*/ 0 w 1047750"/>
                <a:gd name="csY5" fmla="*/ 419100 h 419100"/>
                <a:gd name="csX6" fmla="*/ 0 w 1047750"/>
                <a:gd name="csY6" fmla="*/ 0 h 419100"/>
                <a:gd name="csX7" fmla="*/ 57150 w 1047750"/>
                <a:gd name="csY7" fmla="*/ 0 h 419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047750" h="419100">
                  <a:moveTo>
                    <a:pt x="990600" y="0"/>
                  </a:moveTo>
                  <a:cubicBezTo>
                    <a:pt x="1022163" y="0"/>
                    <a:pt x="1047750" y="0"/>
                    <a:pt x="1047750" y="0"/>
                  </a:cubicBezTo>
                  <a:lnTo>
                    <a:pt x="1047750" y="419100"/>
                  </a:lnTo>
                  <a:cubicBezTo>
                    <a:pt x="1047750" y="419100"/>
                    <a:pt x="1022163" y="419100"/>
                    <a:pt x="990600" y="419100"/>
                  </a:cubicBezTo>
                  <a:lnTo>
                    <a:pt x="57150" y="419100"/>
                  </a:lnTo>
                  <a:cubicBezTo>
                    <a:pt x="25587" y="419100"/>
                    <a:pt x="0" y="419100"/>
                    <a:pt x="0" y="41910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444441"/>
            </a:solidFill>
            <a:ln w="4763" cap="flat">
              <a:solidFill>
                <a:srgbClr val="B4B2A9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18AA004-F6A1-8ECA-B38F-606DA9171E34}"/>
                </a:ext>
              </a:extLst>
            </p:cNvPr>
            <p:cNvSpPr txBox="1"/>
            <p:nvPr/>
          </p:nvSpPr>
          <p:spPr>
            <a:xfrm>
              <a:off x="5532705" y="2358509"/>
              <a:ext cx="840839" cy="2688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1050" spc="0" baseline="0">
                  <a:ln/>
                  <a:solidFill>
                    <a:srgbClr val="D3D1C7"/>
                  </a:solidFill>
                  <a:latin typeface="Segoe UI"/>
                  <a:cs typeface="Segoe UI"/>
                  <a:sym typeface="Segoe UI"/>
                  <a:rtl val="0"/>
                </a:rPr>
                <a:t>GH Actions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C47F8F-336A-8CBD-9E76-40600D49A660}"/>
                </a:ext>
              </a:extLst>
            </p:cNvPr>
            <p:cNvSpPr txBox="1"/>
            <p:nvPr/>
          </p:nvSpPr>
          <p:spPr>
            <a:xfrm>
              <a:off x="5429097" y="2531466"/>
              <a:ext cx="1048055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B4B2A9"/>
                  </a:solidFill>
                  <a:latin typeface="Segoe UI"/>
                  <a:cs typeface="Segoe UI"/>
                  <a:sym typeface="Segoe UI"/>
                  <a:rtl val="0"/>
                </a:rPr>
                <a:t>Runs CFN deploy</a:t>
              </a:r>
            </a:p>
          </p:txBody>
        </p:sp>
      </p:grpSp>
      <p:sp>
        <p:nvSpPr>
          <p:cNvPr id="62" name="Freeform 61">
            <a:extLst>
              <a:ext uri="{FF2B5EF4-FFF2-40B4-BE49-F238E27FC236}">
                <a16:creationId xmlns:a16="http://schemas.microsoft.com/office/drawing/2014/main" id="{2989741E-F910-6B8A-9B1E-EEB760DB8806}"/>
              </a:ext>
            </a:extLst>
          </p:cNvPr>
          <p:cNvSpPr/>
          <p:nvPr/>
        </p:nvSpPr>
        <p:spPr>
          <a:xfrm>
            <a:off x="6477000" y="2586228"/>
            <a:ext cx="266700" cy="9525"/>
          </a:xfrm>
          <a:custGeom>
            <a:avLst/>
            <a:gdLst>
              <a:gd name="csX0" fmla="*/ 0 w 266700"/>
              <a:gd name="csY0" fmla="*/ 0 h 9525"/>
              <a:gd name="csX1" fmla="*/ 266700 w 266700"/>
              <a:gd name="csY1" fmla="*/ 0 h 9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6700" h="9525">
                <a:moveTo>
                  <a:pt x="0" y="0"/>
                </a:moveTo>
                <a:lnTo>
                  <a:pt x="266700" y="0"/>
                </a:lnTo>
              </a:path>
            </a:pathLst>
          </a:custGeom>
          <a:ln w="14288" cap="flat">
            <a:solidFill>
              <a:srgbClr val="9C9A92"/>
            </a:solidFill>
            <a:prstDash val="solid"/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1B5FE6B6-3975-2DC5-3B07-1C9B7F8273C5}"/>
              </a:ext>
            </a:extLst>
          </p:cNvPr>
          <p:cNvSpPr/>
          <p:nvPr/>
        </p:nvSpPr>
        <p:spPr>
          <a:xfrm>
            <a:off x="6762750" y="1481328"/>
            <a:ext cx="952500" cy="3048000"/>
          </a:xfrm>
          <a:custGeom>
            <a:avLst/>
            <a:gdLst>
              <a:gd name="csX0" fmla="*/ 838200 w 952500"/>
              <a:gd name="csY0" fmla="*/ 0 h 3048000"/>
              <a:gd name="csX1" fmla="*/ 952500 w 952500"/>
              <a:gd name="csY1" fmla="*/ 0 h 3048000"/>
              <a:gd name="csX2" fmla="*/ 952500 w 952500"/>
              <a:gd name="csY2" fmla="*/ 3048000 h 3048000"/>
              <a:gd name="csX3" fmla="*/ 838200 w 952500"/>
              <a:gd name="csY3" fmla="*/ 3048000 h 3048000"/>
              <a:gd name="csX4" fmla="*/ 114300 w 952500"/>
              <a:gd name="csY4" fmla="*/ 3048000 h 3048000"/>
              <a:gd name="csX5" fmla="*/ 0 w 952500"/>
              <a:gd name="csY5" fmla="*/ 3048000 h 3048000"/>
              <a:gd name="csX6" fmla="*/ 0 w 952500"/>
              <a:gd name="csY6" fmla="*/ 0 h 3048000"/>
              <a:gd name="csX7" fmla="*/ 114300 w 952500"/>
              <a:gd name="csY7" fmla="*/ 0 h 304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52500" h="3048000">
                <a:moveTo>
                  <a:pt x="838200" y="0"/>
                </a:moveTo>
                <a:cubicBezTo>
                  <a:pt x="901326" y="0"/>
                  <a:pt x="952500" y="0"/>
                  <a:pt x="952500" y="0"/>
                </a:cubicBezTo>
                <a:lnTo>
                  <a:pt x="952500" y="3048000"/>
                </a:lnTo>
                <a:cubicBezTo>
                  <a:pt x="952500" y="3048000"/>
                  <a:pt x="901326" y="3048000"/>
                  <a:pt x="838200" y="3048000"/>
                </a:cubicBezTo>
                <a:lnTo>
                  <a:pt x="114300" y="3048000"/>
                </a:lnTo>
                <a:cubicBezTo>
                  <a:pt x="51174" y="3048000"/>
                  <a:pt x="0" y="3048000"/>
                  <a:pt x="0" y="3048000"/>
                </a:cubicBezTo>
                <a:lnTo>
                  <a:pt x="0" y="0"/>
                </a:lnTo>
                <a:cubicBezTo>
                  <a:pt x="0" y="0"/>
                  <a:pt x="51174" y="0"/>
                  <a:pt x="114300" y="0"/>
                </a:cubicBezTo>
                <a:close/>
              </a:path>
            </a:pathLst>
          </a:custGeom>
          <a:noFill/>
          <a:ln w="4763" cap="flat">
            <a:solidFill>
              <a:srgbClr val="FF9900"/>
            </a:solidFill>
            <a:custDash>
              <a:ds d="300000" sp="225000"/>
            </a:custDash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7651CC-703E-45BB-7592-F89DED4DCE5C}"/>
              </a:ext>
            </a:extLst>
          </p:cNvPr>
          <p:cNvSpPr txBox="1"/>
          <p:nvPr/>
        </p:nvSpPr>
        <p:spPr>
          <a:xfrm>
            <a:off x="7030860" y="1245591"/>
            <a:ext cx="416279" cy="2434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O" sz="900" spc="0" baseline="0">
                <a:ln/>
                <a:solidFill>
                  <a:srgbClr val="C2C0B6"/>
                </a:solidFill>
                <a:latin typeface="Segoe UI"/>
                <a:cs typeface="Segoe UI"/>
                <a:sym typeface="Segoe UI"/>
                <a:rtl val="0"/>
              </a:rPr>
              <a:t>AWS</a:t>
            </a:r>
          </a:p>
        </p:txBody>
      </p:sp>
      <p:grpSp>
        <p:nvGrpSpPr>
          <p:cNvPr id="65" name="Graphic 29">
            <a:extLst>
              <a:ext uri="{FF2B5EF4-FFF2-40B4-BE49-F238E27FC236}">
                <a16:creationId xmlns:a16="http://schemas.microsoft.com/office/drawing/2014/main" id="{B2F53A3F-BE02-0E0E-87BD-FB971B64DBE1}"/>
              </a:ext>
            </a:extLst>
          </p:cNvPr>
          <p:cNvGrpSpPr/>
          <p:nvPr/>
        </p:nvGrpSpPr>
        <p:grpSpPr>
          <a:xfrm>
            <a:off x="6858000" y="1652778"/>
            <a:ext cx="781050" cy="323850"/>
            <a:chOff x="6858000" y="1652778"/>
            <a:chExt cx="781050" cy="323850"/>
          </a:xfrm>
        </p:grpSpPr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D9AC84DB-4F51-26B7-6981-5502D3CD7DCD}"/>
                </a:ext>
              </a:extLst>
            </p:cNvPr>
            <p:cNvSpPr/>
            <p:nvPr/>
          </p:nvSpPr>
          <p:spPr>
            <a:xfrm>
              <a:off x="6858000" y="1652778"/>
              <a:ext cx="781050" cy="323850"/>
            </a:xfrm>
            <a:custGeom>
              <a:avLst/>
              <a:gdLst>
                <a:gd name="csX0" fmla="*/ 723900 w 781050"/>
                <a:gd name="csY0" fmla="*/ 0 h 323850"/>
                <a:gd name="csX1" fmla="*/ 781050 w 781050"/>
                <a:gd name="csY1" fmla="*/ 0 h 323850"/>
                <a:gd name="csX2" fmla="*/ 781050 w 781050"/>
                <a:gd name="csY2" fmla="*/ 323850 h 323850"/>
                <a:gd name="csX3" fmla="*/ 723900 w 781050"/>
                <a:gd name="csY3" fmla="*/ 323850 h 323850"/>
                <a:gd name="csX4" fmla="*/ 57150 w 781050"/>
                <a:gd name="csY4" fmla="*/ 323850 h 323850"/>
                <a:gd name="csX5" fmla="*/ 0 w 781050"/>
                <a:gd name="csY5" fmla="*/ 323850 h 323850"/>
                <a:gd name="csX6" fmla="*/ 0 w 781050"/>
                <a:gd name="csY6" fmla="*/ 0 h 323850"/>
                <a:gd name="csX7" fmla="*/ 57150 w 781050"/>
                <a:gd name="csY7" fmla="*/ 0 h 323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050" h="323850">
                  <a:moveTo>
                    <a:pt x="723900" y="0"/>
                  </a:moveTo>
                  <a:cubicBezTo>
                    <a:pt x="755463" y="0"/>
                    <a:pt x="781050" y="0"/>
                    <a:pt x="781050" y="0"/>
                  </a:cubicBezTo>
                  <a:lnTo>
                    <a:pt x="781050" y="323850"/>
                  </a:lnTo>
                  <a:cubicBezTo>
                    <a:pt x="781050" y="323850"/>
                    <a:pt x="755463" y="323850"/>
                    <a:pt x="723900" y="323850"/>
                  </a:cubicBezTo>
                  <a:lnTo>
                    <a:pt x="57150" y="323850"/>
                  </a:lnTo>
                  <a:cubicBezTo>
                    <a:pt x="25587" y="323850"/>
                    <a:pt x="0" y="323850"/>
                    <a:pt x="0" y="32385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633806"/>
            </a:solidFill>
            <a:ln w="4763" cap="flat">
              <a:solidFill>
                <a:srgbClr val="EF9F27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FE1FB723-46A0-0CBB-BD22-11D88C09B8F8}"/>
                </a:ext>
              </a:extLst>
            </p:cNvPr>
            <p:cNvSpPr txBox="1"/>
            <p:nvPr/>
          </p:nvSpPr>
          <p:spPr>
            <a:xfrm>
              <a:off x="6906774" y="1645641"/>
              <a:ext cx="683500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VPC Stack</a:t>
              </a:r>
            </a:p>
          </p:txBody>
        </p:sp>
      </p:grpSp>
      <p:grpSp>
        <p:nvGrpSpPr>
          <p:cNvPr id="68" name="Graphic 29">
            <a:extLst>
              <a:ext uri="{FF2B5EF4-FFF2-40B4-BE49-F238E27FC236}">
                <a16:creationId xmlns:a16="http://schemas.microsoft.com/office/drawing/2014/main" id="{C9197D61-C502-5DF1-AE6F-D935B0433ED0}"/>
              </a:ext>
            </a:extLst>
          </p:cNvPr>
          <p:cNvGrpSpPr/>
          <p:nvPr/>
        </p:nvGrpSpPr>
        <p:grpSpPr>
          <a:xfrm>
            <a:off x="6858000" y="2129028"/>
            <a:ext cx="781050" cy="323850"/>
            <a:chOff x="6858000" y="2129028"/>
            <a:chExt cx="781050" cy="323850"/>
          </a:xfrm>
        </p:grpSpPr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24BF79C2-87C1-CEDB-D657-0D2B785A8509}"/>
                </a:ext>
              </a:extLst>
            </p:cNvPr>
            <p:cNvSpPr/>
            <p:nvPr/>
          </p:nvSpPr>
          <p:spPr>
            <a:xfrm>
              <a:off x="6858000" y="2129028"/>
              <a:ext cx="781050" cy="323850"/>
            </a:xfrm>
            <a:custGeom>
              <a:avLst/>
              <a:gdLst>
                <a:gd name="csX0" fmla="*/ 723900 w 781050"/>
                <a:gd name="csY0" fmla="*/ 0 h 323850"/>
                <a:gd name="csX1" fmla="*/ 781050 w 781050"/>
                <a:gd name="csY1" fmla="*/ 0 h 323850"/>
                <a:gd name="csX2" fmla="*/ 781050 w 781050"/>
                <a:gd name="csY2" fmla="*/ 323850 h 323850"/>
                <a:gd name="csX3" fmla="*/ 723900 w 781050"/>
                <a:gd name="csY3" fmla="*/ 323850 h 323850"/>
                <a:gd name="csX4" fmla="*/ 57150 w 781050"/>
                <a:gd name="csY4" fmla="*/ 323850 h 323850"/>
                <a:gd name="csX5" fmla="*/ 0 w 781050"/>
                <a:gd name="csY5" fmla="*/ 323850 h 323850"/>
                <a:gd name="csX6" fmla="*/ 0 w 781050"/>
                <a:gd name="csY6" fmla="*/ 0 h 323850"/>
                <a:gd name="csX7" fmla="*/ 57150 w 781050"/>
                <a:gd name="csY7" fmla="*/ 0 h 323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050" h="323850">
                  <a:moveTo>
                    <a:pt x="723900" y="0"/>
                  </a:moveTo>
                  <a:cubicBezTo>
                    <a:pt x="755463" y="0"/>
                    <a:pt x="781050" y="0"/>
                    <a:pt x="781050" y="0"/>
                  </a:cubicBezTo>
                  <a:lnTo>
                    <a:pt x="781050" y="323850"/>
                  </a:lnTo>
                  <a:cubicBezTo>
                    <a:pt x="781050" y="323850"/>
                    <a:pt x="755463" y="323850"/>
                    <a:pt x="723900" y="323850"/>
                  </a:cubicBezTo>
                  <a:lnTo>
                    <a:pt x="57150" y="323850"/>
                  </a:lnTo>
                  <a:cubicBezTo>
                    <a:pt x="25587" y="323850"/>
                    <a:pt x="0" y="323850"/>
                    <a:pt x="0" y="32385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633806"/>
            </a:solidFill>
            <a:ln w="4763" cap="flat">
              <a:solidFill>
                <a:srgbClr val="EF9F27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977D2AF-045B-2934-574E-83B9A7FEC470}"/>
                </a:ext>
              </a:extLst>
            </p:cNvPr>
            <p:cNvSpPr txBox="1"/>
            <p:nvPr/>
          </p:nvSpPr>
          <p:spPr>
            <a:xfrm>
              <a:off x="6872395" y="2121891"/>
              <a:ext cx="752259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DynamoDB</a:t>
              </a:r>
            </a:p>
          </p:txBody>
        </p:sp>
      </p:grpSp>
      <p:grpSp>
        <p:nvGrpSpPr>
          <p:cNvPr id="71" name="Graphic 29">
            <a:extLst>
              <a:ext uri="{FF2B5EF4-FFF2-40B4-BE49-F238E27FC236}">
                <a16:creationId xmlns:a16="http://schemas.microsoft.com/office/drawing/2014/main" id="{76612ADC-5B5A-2D70-52EC-A9F52A79136C}"/>
              </a:ext>
            </a:extLst>
          </p:cNvPr>
          <p:cNvGrpSpPr/>
          <p:nvPr/>
        </p:nvGrpSpPr>
        <p:grpSpPr>
          <a:xfrm>
            <a:off x="6858000" y="2605278"/>
            <a:ext cx="781050" cy="323850"/>
            <a:chOff x="6858000" y="2605278"/>
            <a:chExt cx="781050" cy="323850"/>
          </a:xfrm>
        </p:grpSpPr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61068EE3-FBA9-098F-CDD5-13B4CE50FE3F}"/>
                </a:ext>
              </a:extLst>
            </p:cNvPr>
            <p:cNvSpPr/>
            <p:nvPr/>
          </p:nvSpPr>
          <p:spPr>
            <a:xfrm>
              <a:off x="6858000" y="2605278"/>
              <a:ext cx="781050" cy="323850"/>
            </a:xfrm>
            <a:custGeom>
              <a:avLst/>
              <a:gdLst>
                <a:gd name="csX0" fmla="*/ 723900 w 781050"/>
                <a:gd name="csY0" fmla="*/ 0 h 323850"/>
                <a:gd name="csX1" fmla="*/ 781050 w 781050"/>
                <a:gd name="csY1" fmla="*/ 0 h 323850"/>
                <a:gd name="csX2" fmla="*/ 781050 w 781050"/>
                <a:gd name="csY2" fmla="*/ 323850 h 323850"/>
                <a:gd name="csX3" fmla="*/ 723900 w 781050"/>
                <a:gd name="csY3" fmla="*/ 323850 h 323850"/>
                <a:gd name="csX4" fmla="*/ 57150 w 781050"/>
                <a:gd name="csY4" fmla="*/ 323850 h 323850"/>
                <a:gd name="csX5" fmla="*/ 0 w 781050"/>
                <a:gd name="csY5" fmla="*/ 323850 h 323850"/>
                <a:gd name="csX6" fmla="*/ 0 w 781050"/>
                <a:gd name="csY6" fmla="*/ 0 h 323850"/>
                <a:gd name="csX7" fmla="*/ 57150 w 781050"/>
                <a:gd name="csY7" fmla="*/ 0 h 3238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050" h="323850">
                  <a:moveTo>
                    <a:pt x="723900" y="0"/>
                  </a:moveTo>
                  <a:cubicBezTo>
                    <a:pt x="755463" y="0"/>
                    <a:pt x="781050" y="0"/>
                    <a:pt x="781050" y="0"/>
                  </a:cubicBezTo>
                  <a:lnTo>
                    <a:pt x="781050" y="323850"/>
                  </a:lnTo>
                  <a:cubicBezTo>
                    <a:pt x="781050" y="323850"/>
                    <a:pt x="755463" y="323850"/>
                    <a:pt x="723900" y="323850"/>
                  </a:cubicBezTo>
                  <a:lnTo>
                    <a:pt x="57150" y="323850"/>
                  </a:lnTo>
                  <a:cubicBezTo>
                    <a:pt x="25587" y="323850"/>
                    <a:pt x="0" y="323850"/>
                    <a:pt x="0" y="32385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633806"/>
            </a:solidFill>
            <a:ln w="4763" cap="flat">
              <a:solidFill>
                <a:srgbClr val="EF9F27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7C8A9F0-AF09-5213-4811-E063C73220CF}"/>
                </a:ext>
              </a:extLst>
            </p:cNvPr>
            <p:cNvSpPr txBox="1"/>
            <p:nvPr/>
          </p:nvSpPr>
          <p:spPr>
            <a:xfrm>
              <a:off x="6813571" y="2598141"/>
              <a:ext cx="869907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Lambda+VPC</a:t>
              </a:r>
            </a:p>
          </p:txBody>
        </p:sp>
      </p:grpSp>
      <p:grpSp>
        <p:nvGrpSpPr>
          <p:cNvPr id="74" name="Graphic 29">
            <a:extLst>
              <a:ext uri="{FF2B5EF4-FFF2-40B4-BE49-F238E27FC236}">
                <a16:creationId xmlns:a16="http://schemas.microsoft.com/office/drawing/2014/main" id="{74B8901B-1BB6-DEE8-C84F-D21B886C2326}"/>
              </a:ext>
            </a:extLst>
          </p:cNvPr>
          <p:cNvGrpSpPr/>
          <p:nvPr/>
        </p:nvGrpSpPr>
        <p:grpSpPr>
          <a:xfrm>
            <a:off x="6858000" y="3081528"/>
            <a:ext cx="781050" cy="476250"/>
            <a:chOff x="6858000" y="3081528"/>
            <a:chExt cx="781050" cy="476250"/>
          </a:xfrm>
        </p:grpSpPr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EE0F1EF2-EED3-AA27-02A8-DE58415E9372}"/>
                </a:ext>
              </a:extLst>
            </p:cNvPr>
            <p:cNvSpPr/>
            <p:nvPr/>
          </p:nvSpPr>
          <p:spPr>
            <a:xfrm>
              <a:off x="6858000" y="3081528"/>
              <a:ext cx="781050" cy="476250"/>
            </a:xfrm>
            <a:custGeom>
              <a:avLst/>
              <a:gdLst>
                <a:gd name="csX0" fmla="*/ 723900 w 781050"/>
                <a:gd name="csY0" fmla="*/ 0 h 476250"/>
                <a:gd name="csX1" fmla="*/ 781050 w 781050"/>
                <a:gd name="csY1" fmla="*/ 0 h 476250"/>
                <a:gd name="csX2" fmla="*/ 781050 w 781050"/>
                <a:gd name="csY2" fmla="*/ 476250 h 476250"/>
                <a:gd name="csX3" fmla="*/ 723900 w 781050"/>
                <a:gd name="csY3" fmla="*/ 476250 h 476250"/>
                <a:gd name="csX4" fmla="*/ 57150 w 781050"/>
                <a:gd name="csY4" fmla="*/ 476250 h 476250"/>
                <a:gd name="csX5" fmla="*/ 0 w 781050"/>
                <a:gd name="csY5" fmla="*/ 476250 h 476250"/>
                <a:gd name="csX6" fmla="*/ 0 w 781050"/>
                <a:gd name="csY6" fmla="*/ 0 h 476250"/>
                <a:gd name="csX7" fmla="*/ 57150 w 781050"/>
                <a:gd name="csY7" fmla="*/ 0 h 476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1050" h="476250">
                  <a:moveTo>
                    <a:pt x="723900" y="0"/>
                  </a:moveTo>
                  <a:cubicBezTo>
                    <a:pt x="755463" y="0"/>
                    <a:pt x="781050" y="0"/>
                    <a:pt x="781050" y="0"/>
                  </a:cubicBezTo>
                  <a:lnTo>
                    <a:pt x="781050" y="476250"/>
                  </a:lnTo>
                  <a:cubicBezTo>
                    <a:pt x="781050" y="476250"/>
                    <a:pt x="755463" y="476250"/>
                    <a:pt x="723900" y="476250"/>
                  </a:cubicBezTo>
                  <a:lnTo>
                    <a:pt x="57150" y="476250"/>
                  </a:lnTo>
                  <a:cubicBezTo>
                    <a:pt x="25587" y="476250"/>
                    <a:pt x="0" y="476250"/>
                    <a:pt x="0" y="476250"/>
                  </a:cubicBezTo>
                  <a:lnTo>
                    <a:pt x="0" y="0"/>
                  </a:lnTo>
                  <a:cubicBezTo>
                    <a:pt x="0" y="0"/>
                    <a:pt x="25587" y="0"/>
                    <a:pt x="57150" y="0"/>
                  </a:cubicBezTo>
                  <a:close/>
                </a:path>
              </a:pathLst>
            </a:custGeom>
            <a:solidFill>
              <a:srgbClr val="633806"/>
            </a:solidFill>
            <a:ln w="4763" cap="flat">
              <a:solidFill>
                <a:srgbClr val="EF9F27"/>
              </a:solidFill>
              <a:prstDash val="solid"/>
              <a:miter/>
            </a:ln>
          </p:spPr>
          <p:txBody>
            <a:bodyPr/>
            <a:lstStyle/>
            <a:p>
              <a:endParaRPr lang="en-CO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8438448-37FD-209B-86ED-1DBE22B64474}"/>
                </a:ext>
              </a:extLst>
            </p:cNvPr>
            <p:cNvSpPr txBox="1"/>
            <p:nvPr/>
          </p:nvSpPr>
          <p:spPr>
            <a:xfrm>
              <a:off x="7025316" y="3102966"/>
              <a:ext cx="446417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Stack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A6BF101-25AA-B7B7-2D22-02EC91D22EC7}"/>
                </a:ext>
              </a:extLst>
            </p:cNvPr>
            <p:cNvSpPr txBox="1"/>
            <p:nvPr/>
          </p:nvSpPr>
          <p:spPr>
            <a:xfrm>
              <a:off x="6908811" y="3255366"/>
              <a:ext cx="679426" cy="243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O" sz="900" spc="0" baseline="0">
                  <a:ln/>
                  <a:solidFill>
                    <a:srgbClr val="EF9F27"/>
                  </a:solidFill>
                  <a:latin typeface="Segoe UI"/>
                  <a:cs typeface="Segoe UI"/>
                  <a:sym typeface="Segoe UI"/>
                  <a:rtl val="0"/>
                </a:rPr>
                <a:t>Completo</a:t>
              </a:r>
            </a:p>
          </p:txBody>
        </p:sp>
      </p:grpSp>
      <p:sp>
        <p:nvSpPr>
          <p:cNvPr id="78" name="Freeform 77">
            <a:extLst>
              <a:ext uri="{FF2B5EF4-FFF2-40B4-BE49-F238E27FC236}">
                <a16:creationId xmlns:a16="http://schemas.microsoft.com/office/drawing/2014/main" id="{F0B9E791-1012-CB3D-23B4-45C9BAAF0787}"/>
              </a:ext>
            </a:extLst>
          </p:cNvPr>
          <p:cNvSpPr/>
          <p:nvPr/>
        </p:nvSpPr>
        <p:spPr>
          <a:xfrm>
            <a:off x="4000500" y="3405378"/>
            <a:ext cx="3238500" cy="742950"/>
          </a:xfrm>
          <a:custGeom>
            <a:avLst/>
            <a:gdLst>
              <a:gd name="csX0" fmla="*/ 3238500 w 3238500"/>
              <a:gd name="csY0" fmla="*/ 323850 h 742950"/>
              <a:gd name="csX1" fmla="*/ 3238500 w 3238500"/>
              <a:gd name="csY1" fmla="*/ 742950 h 742950"/>
              <a:gd name="csX2" fmla="*/ 0 w 3238500"/>
              <a:gd name="csY2" fmla="*/ 742950 h 742950"/>
              <a:gd name="csX3" fmla="*/ 0 w 3238500"/>
              <a:gd name="csY3" fmla="*/ 0 h 742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238500" h="742950">
                <a:moveTo>
                  <a:pt x="3238500" y="323850"/>
                </a:moveTo>
                <a:lnTo>
                  <a:pt x="3238500" y="742950"/>
                </a:lnTo>
                <a:lnTo>
                  <a:pt x="0" y="742950"/>
                </a:lnTo>
                <a:lnTo>
                  <a:pt x="0" y="0"/>
                </a:lnTo>
              </a:path>
            </a:pathLst>
          </a:custGeom>
          <a:noFill/>
          <a:ln w="9525" cap="flat">
            <a:solidFill>
              <a:srgbClr val="1D9E75"/>
            </a:solidFill>
            <a:prstDash val="dash"/>
            <a:miter/>
          </a:ln>
        </p:spPr>
        <p:txBody>
          <a:bodyPr/>
          <a:lstStyle/>
          <a:p>
            <a:endParaRPr lang="en-CO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7942C89-8BC5-34FD-F06D-C5533669D083}"/>
              </a:ext>
            </a:extLst>
          </p:cNvPr>
          <p:cNvSpPr txBox="1"/>
          <p:nvPr/>
        </p:nvSpPr>
        <p:spPr>
          <a:xfrm>
            <a:off x="4436971" y="4122141"/>
            <a:ext cx="1984556" cy="2434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O" sz="900" spc="0" baseline="0">
                <a:ln/>
                <a:solidFill>
                  <a:srgbClr val="C2C0B6"/>
                </a:solidFill>
                <a:latin typeface="Segoe UI"/>
                <a:cs typeface="Segoe UI"/>
                <a:sym typeface="Segoe UI"/>
                <a:rtl val="0"/>
              </a:rPr>
              <a:t>Notifica éxito + Stack ID al catálogo</a:t>
            </a:r>
          </a:p>
        </p:txBody>
      </p:sp>
    </p:spTree>
    <p:extLst>
      <p:ext uri="{BB962C8B-B14F-4D97-AF65-F5344CB8AC3E}">
        <p14:creationId xmlns:p14="http://schemas.microsoft.com/office/powerpoint/2010/main" val="3076796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clave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medible al adoptar Port + CloudFormation + GitHub Actions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27432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8" name="Shape 6"/>
          <p:cNvSpPr/>
          <p:nvPr/>
        </p:nvSpPr>
        <p:spPr>
          <a:xfrm>
            <a:off x="274320" y="1051560"/>
            <a:ext cx="2743200" cy="548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9" name="Text 7"/>
          <p:cNvSpPr/>
          <p:nvPr/>
        </p:nvSpPr>
        <p:spPr>
          <a:xfrm>
            <a:off x="411480" y="111556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hr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11480" y="173736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aprovisionamiento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195681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semanas con tickets manuales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172968" y="1051560"/>
            <a:ext cx="27432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3" name="Shape 11"/>
          <p:cNvSpPr/>
          <p:nvPr/>
        </p:nvSpPr>
        <p:spPr>
          <a:xfrm>
            <a:off x="3172968" y="1051560"/>
            <a:ext cx="2743200" cy="54864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4" name="Text 12"/>
          <p:cNvSpPr/>
          <p:nvPr/>
        </p:nvSpPr>
        <p:spPr>
          <a:xfrm>
            <a:off x="3310128" y="111556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3310128" y="173736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privada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10128" y="195681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Endpoints · sin internet directo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71616" y="1051560"/>
            <a:ext cx="27432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18" name="Shape 16"/>
          <p:cNvSpPr/>
          <p:nvPr/>
        </p:nvSpPr>
        <p:spPr>
          <a:xfrm>
            <a:off x="6071616" y="1051560"/>
            <a:ext cx="2743200" cy="5486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9" name="Text 17"/>
          <p:cNvSpPr/>
          <p:nvPr/>
        </p:nvSpPr>
        <p:spPr>
          <a:xfrm>
            <a:off x="6208776" y="111556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208776" y="173736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Secretos estáticos en CI/CD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08776" y="195681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nativo entre GitHub y AWS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2487168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3" name="Shape 21"/>
          <p:cNvSpPr/>
          <p:nvPr/>
        </p:nvSpPr>
        <p:spPr>
          <a:xfrm>
            <a:off x="274320" y="2487168"/>
            <a:ext cx="2029968" cy="548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615184"/>
            <a:ext cx="274320" cy="27432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768096" y="26151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02336" y="294436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semanas a horas en aprovisionar una arquitectura completa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2450592" y="2487168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28" name="Shape 25"/>
          <p:cNvSpPr/>
          <p:nvPr/>
        </p:nvSpPr>
        <p:spPr>
          <a:xfrm>
            <a:off x="2450592" y="2487168"/>
            <a:ext cx="2029968" cy="54864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2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8608" y="2615184"/>
            <a:ext cx="274320" cy="27432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2944368" y="26151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enforceada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2578608" y="294436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cfn-guard y SCPs garantizan que cada stack cumple políticas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4626864" y="2487168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3" name="Shape 29"/>
          <p:cNvSpPr/>
          <p:nvPr/>
        </p:nvSpPr>
        <p:spPr>
          <a:xfrm>
            <a:off x="4626864" y="2487168"/>
            <a:ext cx="2029968" cy="5486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615184"/>
            <a:ext cx="274320" cy="27432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5120640" y="26151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sin fricción</a:t>
            </a:r>
            <a:endParaRPr lang="en-US" sz="1100" dirty="0"/>
          </a:p>
        </p:txBody>
      </p:sp>
      <p:sp>
        <p:nvSpPr>
          <p:cNvPr id="36" name="Text 31"/>
          <p:cNvSpPr/>
          <p:nvPr/>
        </p:nvSpPr>
        <p:spPr>
          <a:xfrm>
            <a:off x="4754880" y="294436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Nuevos squads adoptan el golden path sin onboarding manual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6803136" y="2487168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38" name="Shape 33"/>
          <p:cNvSpPr/>
          <p:nvPr/>
        </p:nvSpPr>
        <p:spPr>
          <a:xfrm>
            <a:off x="6803136" y="2487168"/>
            <a:ext cx="20299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2615184"/>
            <a:ext cx="274320" cy="274320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296912" y="26151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Extensibilidad</a:t>
            </a:r>
            <a:endParaRPr lang="en-US" sz="1100" dirty="0"/>
          </a:p>
        </p:txBody>
      </p:sp>
      <p:sp>
        <p:nvSpPr>
          <p:cNvPr id="41" name="Text 35"/>
          <p:cNvSpPr/>
          <p:nvPr/>
        </p:nvSpPr>
        <p:spPr>
          <a:xfrm>
            <a:off x="6931152" y="294436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Lambdas, tablas o microservicios sigue el mismo flujo</a:t>
            </a:r>
            <a:endParaRPr lang="en-US" sz="950" dirty="0"/>
          </a:p>
        </p:txBody>
      </p:sp>
      <p:sp>
        <p:nvSpPr>
          <p:cNvPr id="42" name="Shape 36"/>
          <p:cNvSpPr/>
          <p:nvPr/>
        </p:nvSpPr>
        <p:spPr>
          <a:xfrm>
            <a:off x="274320" y="3694176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43" name="Shape 37"/>
          <p:cNvSpPr/>
          <p:nvPr/>
        </p:nvSpPr>
        <p:spPr>
          <a:xfrm>
            <a:off x="274320" y="3694176"/>
            <a:ext cx="2029968" cy="54864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4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336" y="3822192"/>
            <a:ext cx="274320" cy="274320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768096" y="3822192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nativo</a:t>
            </a:r>
            <a:endParaRPr lang="en-US" sz="1100" dirty="0"/>
          </a:p>
        </p:txBody>
      </p:sp>
      <p:sp>
        <p:nvSpPr>
          <p:cNvPr id="46" name="Text 39"/>
          <p:cNvSpPr/>
          <p:nvPr/>
        </p:nvSpPr>
        <p:spPr>
          <a:xfrm>
            <a:off x="402336" y="41513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infraestructura en PR · revisable · versionada · auditable</a:t>
            </a:r>
            <a:endParaRPr lang="en-US" sz="950" dirty="0"/>
          </a:p>
        </p:txBody>
      </p:sp>
      <p:sp>
        <p:nvSpPr>
          <p:cNvPr id="47" name="Shape 40"/>
          <p:cNvSpPr/>
          <p:nvPr/>
        </p:nvSpPr>
        <p:spPr>
          <a:xfrm>
            <a:off x="2450592" y="3694176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48" name="Shape 41"/>
          <p:cNvSpPr/>
          <p:nvPr/>
        </p:nvSpPr>
        <p:spPr>
          <a:xfrm>
            <a:off x="2450592" y="3694176"/>
            <a:ext cx="2029968" cy="54864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78608" y="3822192"/>
            <a:ext cx="274320" cy="274320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2944368" y="3822192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detection</a:t>
            </a:r>
            <a:endParaRPr lang="en-US" sz="1100" dirty="0"/>
          </a:p>
        </p:txBody>
      </p:sp>
      <p:sp>
        <p:nvSpPr>
          <p:cNvPr id="51" name="Text 43"/>
          <p:cNvSpPr/>
          <p:nvPr/>
        </p:nvSpPr>
        <p:spPr>
          <a:xfrm>
            <a:off x="2578608" y="41513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detecta cambios no gestionados automáticamente</a:t>
            </a:r>
            <a:endParaRPr lang="en-US" sz="950" dirty="0"/>
          </a:p>
        </p:txBody>
      </p:sp>
      <p:sp>
        <p:nvSpPr>
          <p:cNvPr id="52" name="Shape 44"/>
          <p:cNvSpPr/>
          <p:nvPr/>
        </p:nvSpPr>
        <p:spPr>
          <a:xfrm>
            <a:off x="4626864" y="3694176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53" name="Shape 45"/>
          <p:cNvSpPr/>
          <p:nvPr/>
        </p:nvSpPr>
        <p:spPr>
          <a:xfrm>
            <a:off x="4626864" y="3694176"/>
            <a:ext cx="2029968" cy="5486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5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3822192"/>
            <a:ext cx="274320" cy="274320"/>
          </a:xfrm>
          <a:prstGeom prst="rect">
            <a:avLst/>
          </a:prstGeom>
        </p:spPr>
      </p:pic>
      <p:sp>
        <p:nvSpPr>
          <p:cNvPr id="55" name="Text 46"/>
          <p:cNvSpPr/>
          <p:nvPr/>
        </p:nvSpPr>
        <p:spPr>
          <a:xfrm>
            <a:off x="5120640" y="3822192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de costo</a:t>
            </a:r>
            <a:endParaRPr lang="en-US" sz="1100" dirty="0"/>
          </a:p>
        </p:txBody>
      </p:sp>
      <p:sp>
        <p:nvSpPr>
          <p:cNvPr id="56" name="Text 47"/>
          <p:cNvSpPr/>
          <p:nvPr/>
        </p:nvSpPr>
        <p:spPr>
          <a:xfrm>
            <a:off x="4754880" y="41513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tags por squad desde el día 1, sin configuración extra</a:t>
            </a:r>
            <a:endParaRPr lang="en-US" sz="950" dirty="0"/>
          </a:p>
        </p:txBody>
      </p:sp>
      <p:sp>
        <p:nvSpPr>
          <p:cNvPr id="57" name="Shape 48"/>
          <p:cNvSpPr/>
          <p:nvPr/>
        </p:nvSpPr>
        <p:spPr>
          <a:xfrm>
            <a:off x="6803136" y="3694176"/>
            <a:ext cx="2029968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CO"/>
          </a:p>
        </p:txBody>
      </p:sp>
      <p:sp>
        <p:nvSpPr>
          <p:cNvPr id="58" name="Shape 49"/>
          <p:cNvSpPr/>
          <p:nvPr/>
        </p:nvSpPr>
        <p:spPr>
          <a:xfrm>
            <a:off x="6803136" y="3694176"/>
            <a:ext cx="2029968" cy="5486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pic>
        <p:nvPicPr>
          <p:cNvPr id="5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31152" y="3822192"/>
            <a:ext cx="274320" cy="274320"/>
          </a:xfrm>
          <a:prstGeom prst="rect">
            <a:avLst/>
          </a:prstGeom>
        </p:spPr>
      </p:pic>
      <p:sp>
        <p:nvSpPr>
          <p:cNvPr id="60" name="Text 50"/>
          <p:cNvSpPr/>
          <p:nvPr/>
        </p:nvSpPr>
        <p:spPr>
          <a:xfrm>
            <a:off x="7296912" y="3822192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vendor lock-in</a:t>
            </a:r>
            <a:endParaRPr lang="en-US" sz="1100" dirty="0"/>
          </a:p>
        </p:txBody>
      </p:sp>
      <p:sp>
        <p:nvSpPr>
          <p:cNvPr id="61" name="Text 51"/>
          <p:cNvSpPr/>
          <p:nvPr/>
        </p:nvSpPr>
        <p:spPr>
          <a:xfrm>
            <a:off x="6931152" y="4151376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+ CFN: herramientas estándar y ampliamente adoptadas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 de autoservicio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solicitud en Port al stack CloudFormation aprovisionado en AWS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6" name="Text 4"/>
          <p:cNvSpPr/>
          <p:nvPr/>
        </p:nvSpPr>
        <p:spPr>
          <a:xfrm>
            <a:off x="274320" y="4910328"/>
            <a:ext cx="859536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Plataforma · IDP Strategy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987552"/>
            <a:ext cx="210312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1 · Developer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77440" y="1197864"/>
            <a:ext cx="228600" cy="3657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0" name="Shape 8"/>
          <p:cNvSpPr/>
          <p:nvPr/>
        </p:nvSpPr>
        <p:spPr>
          <a:xfrm>
            <a:off x="2633472" y="987552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1" name="Shape 9"/>
          <p:cNvSpPr/>
          <p:nvPr/>
        </p:nvSpPr>
        <p:spPr>
          <a:xfrm>
            <a:off x="2633472" y="987552"/>
            <a:ext cx="54864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2" name="Text 10"/>
          <p:cNvSpPr/>
          <p:nvPr/>
        </p:nvSpPr>
        <p:spPr>
          <a:xfrm>
            <a:off x="2798064" y="987552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 arquitectura en el catálogo de Port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280160" y="1463040"/>
            <a:ext cx="36576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4" name="Shape 12"/>
          <p:cNvSpPr/>
          <p:nvPr/>
        </p:nvSpPr>
        <p:spPr>
          <a:xfrm>
            <a:off x="274320" y="1591056"/>
            <a:ext cx="2103120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5" name="Text 13"/>
          <p:cNvSpPr/>
          <p:nvPr/>
        </p:nvSpPr>
        <p:spPr>
          <a:xfrm>
            <a:off x="274320" y="1591056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2 · Port IDP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377440" y="1801368"/>
            <a:ext cx="2286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7" name="Shape 15"/>
          <p:cNvSpPr/>
          <p:nvPr/>
        </p:nvSpPr>
        <p:spPr>
          <a:xfrm>
            <a:off x="2633472" y="1591056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8" name="Shape 16"/>
          <p:cNvSpPr/>
          <p:nvPr/>
        </p:nvSpPr>
        <p:spPr>
          <a:xfrm>
            <a:off x="2633472" y="1591056"/>
            <a:ext cx="54864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9" name="Text 17"/>
          <p:cNvSpPr/>
          <p:nvPr/>
        </p:nvSpPr>
        <p:spPr>
          <a:xfrm>
            <a:off x="2798064" y="1591056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Formulario: servicio · env · Lambdas · DDB · CIDR · tags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280160" y="2066544"/>
            <a:ext cx="36576" cy="164592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1" name="Shape 19"/>
          <p:cNvSpPr/>
          <p:nvPr/>
        </p:nvSpPr>
        <p:spPr>
          <a:xfrm>
            <a:off x="274320" y="2194560"/>
            <a:ext cx="210312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2" name="Text 20"/>
          <p:cNvSpPr/>
          <p:nvPr/>
        </p:nvSpPr>
        <p:spPr>
          <a:xfrm>
            <a:off x="274320" y="21945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3 · Guardarraíles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377440" y="2404872"/>
            <a:ext cx="228600" cy="365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4" name="Shape 22"/>
          <p:cNvSpPr/>
          <p:nvPr/>
        </p:nvSpPr>
        <p:spPr>
          <a:xfrm>
            <a:off x="2633472" y="2194560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5" name="Shape 23"/>
          <p:cNvSpPr/>
          <p:nvPr/>
        </p:nvSpPr>
        <p:spPr>
          <a:xfrm>
            <a:off x="2633472" y="2194560"/>
            <a:ext cx="54864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6" name="Text 24"/>
          <p:cNvSpPr/>
          <p:nvPr/>
        </p:nvSpPr>
        <p:spPr>
          <a:xfrm>
            <a:off x="2798064" y="2194560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cfn-guard + SCPs: IAM · naming · cuotas · budget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280160" y="2670048"/>
            <a:ext cx="36576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8" name="Shape 26"/>
          <p:cNvSpPr/>
          <p:nvPr/>
        </p:nvSpPr>
        <p:spPr>
          <a:xfrm>
            <a:off x="274320" y="2798064"/>
            <a:ext cx="2103120" cy="475488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29" name="Text 27"/>
          <p:cNvSpPr/>
          <p:nvPr/>
        </p:nvSpPr>
        <p:spPr>
          <a:xfrm>
            <a:off x="274320" y="27980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4 · GitHub Actions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377440" y="3008376"/>
            <a:ext cx="228600" cy="36576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1" name="Shape 29"/>
          <p:cNvSpPr/>
          <p:nvPr/>
        </p:nvSpPr>
        <p:spPr>
          <a:xfrm>
            <a:off x="2633472" y="2798064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2" name="Shape 30"/>
          <p:cNvSpPr/>
          <p:nvPr/>
        </p:nvSpPr>
        <p:spPr>
          <a:xfrm>
            <a:off x="2633472" y="2798064"/>
            <a:ext cx="54864" cy="475488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3" name="Text 31"/>
          <p:cNvSpPr/>
          <p:nvPr/>
        </p:nvSpPr>
        <p:spPr>
          <a:xfrm>
            <a:off x="2798064" y="2798064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CFN generado → cfn-lint → Change Set → deploy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280160" y="3273552"/>
            <a:ext cx="36576" cy="164592"/>
          </a:xfrm>
          <a:prstGeom prst="rect">
            <a:avLst/>
          </a:prstGeom>
          <a:solidFill>
            <a:srgbClr val="1E5FA8"/>
          </a:solidFill>
          <a:ln w="12700">
            <a:solidFill>
              <a:srgbClr val="1E5FA8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5" name="Shape 33"/>
          <p:cNvSpPr/>
          <p:nvPr/>
        </p:nvSpPr>
        <p:spPr>
          <a:xfrm>
            <a:off x="274320" y="3401568"/>
            <a:ext cx="2103120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6" name="Text 34"/>
          <p:cNvSpPr/>
          <p:nvPr/>
        </p:nvSpPr>
        <p:spPr>
          <a:xfrm>
            <a:off x="274320" y="3401568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5 · AWS CloudFormation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377440" y="3611880"/>
            <a:ext cx="228600" cy="36576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8" name="Shape 36"/>
          <p:cNvSpPr/>
          <p:nvPr/>
        </p:nvSpPr>
        <p:spPr>
          <a:xfrm>
            <a:off x="2633472" y="3401568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9" name="Shape 37"/>
          <p:cNvSpPr/>
          <p:nvPr/>
        </p:nvSpPr>
        <p:spPr>
          <a:xfrm>
            <a:off x="2633472" y="3401568"/>
            <a:ext cx="54864" cy="47548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0" name="Text 38"/>
          <p:cNvSpPr/>
          <p:nvPr/>
        </p:nvSpPr>
        <p:spPr>
          <a:xfrm>
            <a:off x="2798064" y="3401568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Stacks: IAM · SG · VPC Endpoints · Lambda (VPC) · DynamoDB privado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280160" y="3877056"/>
            <a:ext cx="36576" cy="1645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2" name="Shape 40"/>
          <p:cNvSpPr/>
          <p:nvPr/>
        </p:nvSpPr>
        <p:spPr>
          <a:xfrm>
            <a:off x="274320" y="4005072"/>
            <a:ext cx="2103120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3" name="Text 41"/>
          <p:cNvSpPr/>
          <p:nvPr/>
        </p:nvSpPr>
        <p:spPr>
          <a:xfrm>
            <a:off x="274320" y="400507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6 · Observabilidad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377440" y="4215384"/>
            <a:ext cx="22860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5" name="Shape 43"/>
          <p:cNvSpPr/>
          <p:nvPr/>
        </p:nvSpPr>
        <p:spPr>
          <a:xfrm>
            <a:off x="2633472" y="4005072"/>
            <a:ext cx="623620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6" name="Shape 44"/>
          <p:cNvSpPr/>
          <p:nvPr/>
        </p:nvSpPr>
        <p:spPr>
          <a:xfrm>
            <a:off x="2633472" y="4005072"/>
            <a:ext cx="54864" cy="475488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7" name="Text 45"/>
          <p:cNvSpPr/>
          <p:nvPr/>
        </p:nvSpPr>
        <p:spPr>
          <a:xfrm>
            <a:off x="2798064" y="4005072"/>
            <a:ext cx="5961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catálogo · owner · CloudWatch · drift detection · cost tags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74320" y="4572000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extensión de nuevos componentes (Lambda, tabla DDB, microservicio) sigue exactamente el mismo flujo — sin tickets manuales.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3" name="Shape 1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infraestructura segura</a:t>
            </a:r>
            <a:endParaRPr lang="en-US" sz="3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existe. El IDP la democratiza.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+ CloudFormation + GitHub Actions convierte el conocimiento experto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autoservicio confiable para todos los equipos de desarrollo.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474720"/>
            <a:ext cx="3291840" cy="36576"/>
          </a:xfrm>
          <a:prstGeom prst="rect">
            <a:avLst/>
          </a:prstGeom>
          <a:solidFill>
            <a:srgbClr val="0B8A6E"/>
          </a:solidFill>
          <a:ln w="12700">
            <a:solidFill>
              <a:srgbClr val="0B8A6E"/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7" name="Text 5"/>
          <p:cNvSpPr/>
          <p:nvPr/>
        </p:nvSpPr>
        <p:spPr>
          <a:xfrm>
            <a:off x="457200" y="36118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3B0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¿Comenzamos con el diseño del catálogo de templates?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Consultoría · Platform Engineering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3200400"/>
            <a:ext cx="1920240" cy="1920240"/>
          </a:xfrm>
          <a:prstGeom prst="rect">
            <a:avLst/>
          </a:prstGeom>
          <a:solidFill>
            <a:srgbClr val="1E5FA8">
              <a:alpha val="20000"/>
            </a:srgbClr>
          </a:solidFill>
          <a:ln w="12700">
            <a:solidFill>
              <a:srgbClr val="1E5FA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  <p:sp>
        <p:nvSpPr>
          <p:cNvPr id="10" name="Shape 8"/>
          <p:cNvSpPr/>
          <p:nvPr/>
        </p:nvSpPr>
        <p:spPr>
          <a:xfrm>
            <a:off x="7406640" y="1097280"/>
            <a:ext cx="1371600" cy="1920240"/>
          </a:xfrm>
          <a:prstGeom prst="rect">
            <a:avLst/>
          </a:prstGeom>
          <a:solidFill>
            <a:srgbClr val="0B8A6E">
              <a:alpha val="20000"/>
            </a:srgbClr>
          </a:solidFill>
          <a:ln w="12700">
            <a:solidFill>
              <a:srgbClr val="0B8A6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CO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920</Words>
  <Application>Microsoft Macintosh PowerPoint</Application>
  <PresentationFormat>On-screen Show (16:9)</PresentationFormat>
  <Paragraphs>205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IDP Strategy: Port + CloudFormation + GitHub Actions</dc:title>
  <dc:subject>PptxGenJS Presentation</dc:subject>
  <dc:creator>PptxGenJS</dc:creator>
  <cp:lastModifiedBy>Omar Alfredo Noriega Niebles</cp:lastModifiedBy>
  <cp:revision>2</cp:revision>
  <dcterms:created xsi:type="dcterms:W3CDTF">2026-04-08T14:50:10Z</dcterms:created>
  <dcterms:modified xsi:type="dcterms:W3CDTF">2026-04-08T15:42:57Z</dcterms:modified>
</cp:coreProperties>
</file>